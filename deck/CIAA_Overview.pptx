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640080"/>
            <a:ext cx="146304" cy="146304"/>
          </a:xfrm>
          <a:prstGeom prst="ellipse">
            <a:avLst/>
          </a:prstGeom>
          <a:solidFill>
            <a:srgbClr val="2DD4BF">
              <a:alpha val="7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59568" y="640080"/>
            <a:ext cx="146304" cy="146304"/>
          </a:xfrm>
          <a:prstGeom prst="ellipse">
            <a:avLst/>
          </a:prstGeom>
          <a:solidFill>
            <a:srgbClr val="2DD4BF">
              <a:alpha val="6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826496" y="640080"/>
            <a:ext cx="146304" cy="146304"/>
          </a:xfrm>
          <a:prstGeom prst="ellipse">
            <a:avLst/>
          </a:prstGeom>
          <a:solidFill>
            <a:srgbClr val="2DD4BF">
              <a:alpha val="5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692640" y="1207008"/>
            <a:ext cx="146304" cy="146304"/>
          </a:xfrm>
          <a:prstGeom prst="ellipse">
            <a:avLst/>
          </a:prstGeom>
          <a:solidFill>
            <a:srgbClr val="2DD4BF">
              <a:alpha val="46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259568" y="1207008"/>
            <a:ext cx="146304" cy="146304"/>
          </a:xfrm>
          <a:prstGeom prst="ellipse">
            <a:avLst/>
          </a:prstGeom>
          <a:solidFill>
            <a:srgbClr val="2DD4BF">
              <a:alpha val="3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826496" y="1207008"/>
            <a:ext cx="146304" cy="146304"/>
          </a:xfrm>
          <a:prstGeom prst="ellipse">
            <a:avLst/>
          </a:prstGeom>
          <a:solidFill>
            <a:srgbClr val="2DD4B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554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AI CODE GOVERNANCE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18745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CIAA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594360" y="28803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Code Impact &amp; Analysis Agent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594360" y="36118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AAB7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multi-agent framework for Pull-Request review and code-impact analysis —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AAB7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catch production issues before they merge.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94360" y="5074920"/>
            <a:ext cx="2059229" cy="420624"/>
          </a:xfrm>
          <a:prstGeom prst="roundRect">
            <a:avLst>
              <a:gd name="adj" fmla="val 50000"/>
            </a:avLst>
          </a:prstGeom>
          <a:solidFill>
            <a:srgbClr val="16243F"/>
          </a:solidFill>
          <a:ln w="12700">
            <a:solidFill>
              <a:srgbClr val="2A3D6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5074920"/>
            <a:ext cx="205922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specialist agents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854757" y="5074920"/>
            <a:ext cx="2311603" cy="420624"/>
          </a:xfrm>
          <a:prstGeom prst="roundRect">
            <a:avLst>
              <a:gd name="adj" fmla="val 50000"/>
            </a:avLst>
          </a:prstGeom>
          <a:solidFill>
            <a:srgbClr val="16243F"/>
          </a:solidFill>
          <a:ln w="12700">
            <a:solidFill>
              <a:srgbClr val="2A3D6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854757" y="5074920"/>
            <a:ext cx="23116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merge gate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367528" y="5074920"/>
            <a:ext cx="2059229" cy="420624"/>
          </a:xfrm>
          <a:prstGeom prst="roundRect">
            <a:avLst>
              <a:gd name="adj" fmla="val 50000"/>
            </a:avLst>
          </a:prstGeom>
          <a:solidFill>
            <a:srgbClr val="16243F"/>
          </a:solidFill>
          <a:ln w="12700">
            <a:solidFill>
              <a:srgbClr val="2A3D6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67528" y="5074920"/>
            <a:ext cx="205922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LLM ready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627925" y="5074920"/>
            <a:ext cx="2395728" cy="420624"/>
          </a:xfrm>
          <a:prstGeom prst="roundRect">
            <a:avLst>
              <a:gd name="adj" fmla="val 50000"/>
            </a:avLst>
          </a:prstGeom>
          <a:solidFill>
            <a:srgbClr val="16243F"/>
          </a:solidFill>
          <a:ln w="12700">
            <a:solidFill>
              <a:srgbClr val="2A3D6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27925" y="5074920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· Bitbucket Server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566928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Reviews don't scale — scanners miss the impact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0136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1924812"/>
            <a:ext cx="210312" cy="210312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810512"/>
            <a:ext cx="384048" cy="38404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161288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Large PRs overwhelm reviewers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1161288" y="209397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routinely span 50–100+ files. Humans can't reliably trace cross-cutting impact across modules and services.</a:t>
            </a:r>
            <a:endParaRPr lang="en-US" sz="1150" dirty="0"/>
          </a:p>
        </p:txBody>
      </p:sp>
      <p:sp>
        <p:nvSpPr>
          <p:cNvPr id="9" name="Shape 5"/>
          <p:cNvSpPr/>
          <p:nvPr/>
        </p:nvSpPr>
        <p:spPr>
          <a:xfrm>
            <a:off x="594360" y="288036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" y="3003804"/>
            <a:ext cx="210312" cy="210312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2889504"/>
            <a:ext cx="384048" cy="384048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161288" y="281635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SAST is blind to the change</a:t>
            </a:r>
            <a:endParaRPr lang="en-US" sz="1500" dirty="0"/>
          </a:p>
        </p:txBody>
      </p:sp>
      <p:sp>
        <p:nvSpPr>
          <p:cNvPr id="13" name="Text 7"/>
          <p:cNvSpPr/>
          <p:nvPr/>
        </p:nvSpPr>
        <p:spPr>
          <a:xfrm>
            <a:off x="1161288" y="317296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SonarQube / Veracode flag code-pattern issues, but not change impact: blast radius, downstream consumers, contract breaks, test adequacy.</a:t>
            </a:r>
            <a:endParaRPr lang="en-US" sz="1150" dirty="0"/>
          </a:p>
        </p:txBody>
      </p:sp>
      <p:sp>
        <p:nvSpPr>
          <p:cNvPr id="14" name="Shape 8"/>
          <p:cNvSpPr/>
          <p:nvPr/>
        </p:nvSpPr>
        <p:spPr>
          <a:xfrm>
            <a:off x="594360" y="3959352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804" y="4082796"/>
            <a:ext cx="210312" cy="210312"/>
          </a:xfrm>
          <a:prstGeom prst="rect">
            <a:avLst/>
          </a:prstGeom>
        </p:spPr>
      </p:pic>
      <p:pic>
        <p:nvPicPr>
          <p:cNvPr id="1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" y="3968496"/>
            <a:ext cx="384048" cy="384048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1161288" y="3895344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deterministic merge decision</a:t>
            </a:r>
            <a:endParaRPr lang="en-US" sz="1500" dirty="0"/>
          </a:p>
        </p:txBody>
      </p:sp>
      <p:sp>
        <p:nvSpPr>
          <p:cNvPr id="18" name="Text 10"/>
          <p:cNvSpPr/>
          <p:nvPr/>
        </p:nvSpPr>
        <p:spPr>
          <a:xfrm>
            <a:off x="1161288" y="425196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are inconsistent and reviewer-dependent — no auditable, repeatable APPROVE / HOLD / BLOCK gate.</a:t>
            </a:r>
            <a:endParaRPr lang="en-US" sz="1150" dirty="0"/>
          </a:p>
        </p:txBody>
      </p:sp>
      <p:sp>
        <p:nvSpPr>
          <p:cNvPr id="19" name="Shape 11"/>
          <p:cNvSpPr/>
          <p:nvPr/>
        </p:nvSpPr>
        <p:spPr>
          <a:xfrm>
            <a:off x="594360" y="5038344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804" y="5161788"/>
            <a:ext cx="210312" cy="210312"/>
          </a:xfrm>
          <a:prstGeom prst="rect">
            <a:avLst/>
          </a:prstGeom>
        </p:spPr>
      </p:pic>
      <p:pic>
        <p:nvPicPr>
          <p:cNvPr id="2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4360" y="5047488"/>
            <a:ext cx="384048" cy="384048"/>
          </a:xfrm>
          <a:prstGeom prst="rect">
            <a:avLst/>
          </a:prstGeom>
        </p:spPr>
      </p:pic>
      <p:sp>
        <p:nvSpPr>
          <p:cNvPr id="22" name="Text 12"/>
          <p:cNvSpPr/>
          <p:nvPr/>
        </p:nvSpPr>
        <p:spPr>
          <a:xfrm>
            <a:off x="1161288" y="4974336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Regressions reach production</a:t>
            </a:r>
            <a:endParaRPr lang="en-US" sz="1500" dirty="0"/>
          </a:p>
        </p:txBody>
      </p:sp>
      <p:sp>
        <p:nvSpPr>
          <p:cNvPr id="23" name="Text 13"/>
          <p:cNvSpPr/>
          <p:nvPr/>
        </p:nvSpPr>
        <p:spPr>
          <a:xfrm>
            <a:off x="1161288" y="533095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Breaking API &amp; data-contract changes slip through and surface as incidents after release.</a:t>
            </a:r>
            <a:endParaRPr lang="en-US" sz="1150" dirty="0"/>
          </a:p>
        </p:txBody>
      </p:sp>
      <p:sp>
        <p:nvSpPr>
          <p:cNvPr id="24" name="Shape 14"/>
          <p:cNvSpPr/>
          <p:nvPr/>
        </p:nvSpPr>
        <p:spPr>
          <a:xfrm>
            <a:off x="7040880" y="1783080"/>
            <a:ext cx="4556455" cy="4206240"/>
          </a:xfrm>
          <a:prstGeom prst="roundRect">
            <a:avLst>
              <a:gd name="adj" fmla="val 2174"/>
            </a:avLst>
          </a:prstGeom>
          <a:solidFill>
            <a:srgbClr val="0E1A33"/>
          </a:solidFill>
          <a:ln/>
        </p:spPr>
      </p:sp>
      <p:sp>
        <p:nvSpPr>
          <p:cNvPr id="25" name="Text 15"/>
          <p:cNvSpPr/>
          <p:nvPr/>
        </p:nvSpPr>
        <p:spPr>
          <a:xfrm>
            <a:off x="7406640" y="2057400"/>
            <a:ext cx="3824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DD4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100+</a:t>
            </a:r>
            <a:endParaRPr lang="en-US" sz="3000" dirty="0"/>
          </a:p>
        </p:txBody>
      </p:sp>
      <p:sp>
        <p:nvSpPr>
          <p:cNvPr id="26" name="Text 16"/>
          <p:cNvSpPr/>
          <p:nvPr/>
        </p:nvSpPr>
        <p:spPr>
          <a:xfrm>
            <a:off x="7406640" y="2624328"/>
            <a:ext cx="3824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in a single PR — beyond human review capacity</a:t>
            </a:r>
            <a:endParaRPr lang="en-US" sz="1200" dirty="0"/>
          </a:p>
        </p:txBody>
      </p:sp>
      <p:sp>
        <p:nvSpPr>
          <p:cNvPr id="27" name="Text 17"/>
          <p:cNvSpPr/>
          <p:nvPr/>
        </p:nvSpPr>
        <p:spPr>
          <a:xfrm>
            <a:off x="7406640" y="3355848"/>
            <a:ext cx="3824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DD4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Blind</a:t>
            </a:r>
            <a:endParaRPr lang="en-US" sz="3000" dirty="0"/>
          </a:p>
        </p:txBody>
      </p:sp>
      <p:sp>
        <p:nvSpPr>
          <p:cNvPr id="28" name="Text 18"/>
          <p:cNvSpPr/>
          <p:nvPr/>
        </p:nvSpPr>
        <p:spPr>
          <a:xfrm>
            <a:off x="7406640" y="3922776"/>
            <a:ext cx="3824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cross-repo blast radius &amp; downstream consumers</a:t>
            </a:r>
            <a:endParaRPr lang="en-US" sz="1200" dirty="0"/>
          </a:p>
        </p:txBody>
      </p:sp>
      <p:sp>
        <p:nvSpPr>
          <p:cNvPr id="29" name="Text 19"/>
          <p:cNvSpPr/>
          <p:nvPr/>
        </p:nvSpPr>
        <p:spPr>
          <a:xfrm>
            <a:off x="7406640" y="4654296"/>
            <a:ext cx="3824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DD4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Inconsistent</a:t>
            </a:r>
            <a:endParaRPr lang="en-US" sz="3000" dirty="0"/>
          </a:p>
        </p:txBody>
      </p:sp>
      <p:sp>
        <p:nvSpPr>
          <p:cNvPr id="30" name="Text 20"/>
          <p:cNvSpPr/>
          <p:nvPr/>
        </p:nvSpPr>
        <p:spPr>
          <a:xfrm>
            <a:off x="7406640" y="5221224"/>
            <a:ext cx="3824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decisions with no audit trail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77724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multi-agent reviewer that understands the change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94360" y="1481328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AAB7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specialized AI agents analyze every PR across security, quality, tests, contracts and downstream impact — then a deterministic policy returns one auditable decision.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94360" y="2286000"/>
            <a:ext cx="3423818" cy="3200400"/>
          </a:xfrm>
          <a:prstGeom prst="roundRect">
            <a:avLst>
              <a:gd name="adj" fmla="val 2857"/>
            </a:avLst>
          </a:prstGeom>
          <a:solidFill>
            <a:srgbClr val="16243F"/>
          </a:solidFill>
          <a:ln w="12700">
            <a:solidFill>
              <a:srgbClr val="2A3D6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2651760"/>
            <a:ext cx="713232" cy="713232"/>
          </a:xfrm>
          <a:prstGeom prst="ellipse">
            <a:avLst/>
          </a:prstGeom>
          <a:solidFill>
            <a:srgbClr val="38BDF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8413" y="2844333"/>
            <a:ext cx="328087" cy="32808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3611880"/>
            <a:ext cx="2692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Deep PR Review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60120" y="4114800"/>
            <a:ext cx="269229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Security, code quality, test adequacy, compliance and dependency/CVE scanning on the diff.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3938" y="2286000"/>
            <a:ext cx="3423818" cy="3200400"/>
          </a:xfrm>
          <a:prstGeom prst="roundRect">
            <a:avLst>
              <a:gd name="adj" fmla="val 2857"/>
            </a:avLst>
          </a:prstGeom>
          <a:solidFill>
            <a:srgbClr val="16243F"/>
          </a:solidFill>
          <a:ln w="12700">
            <a:solidFill>
              <a:srgbClr val="2A3D6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795418" y="2651760"/>
            <a:ext cx="713232" cy="713232"/>
          </a:xfrm>
          <a:prstGeom prst="ellipse">
            <a:avLst/>
          </a:prstGeom>
          <a:solidFill>
            <a:srgbClr val="2DD4B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7991" y="2844333"/>
            <a:ext cx="328087" cy="32808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49698" y="3611880"/>
            <a:ext cx="2692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Impact Analysis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4749698" y="4114800"/>
            <a:ext cx="269229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Blast radius, cross-repo references, downstream consumers, and contract / serialization changes.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73517" y="2286000"/>
            <a:ext cx="3423818" cy="3200400"/>
          </a:xfrm>
          <a:prstGeom prst="roundRect">
            <a:avLst>
              <a:gd name="adj" fmla="val 2857"/>
            </a:avLst>
          </a:prstGeom>
          <a:solidFill>
            <a:srgbClr val="16243F"/>
          </a:solidFill>
          <a:ln w="12700">
            <a:solidFill>
              <a:srgbClr val="2A3D63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584997" y="2651760"/>
            <a:ext cx="713232" cy="713232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7569" y="2844333"/>
            <a:ext cx="328087" cy="328087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539277" y="3611880"/>
            <a:ext cx="2692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Deterministic Governance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8539277" y="4114800"/>
            <a:ext cx="269229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 APPROVE / HOLD / BLOCK gate, evidence per finding, and a reviewer feedback loop.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594360" y="5806440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GitHub · GitHub Enterprise · Bitbucket Cloud &amp; Server (Data Center)   |   Any LLM: Anthropic · OpenAI · Azure · Ollama · self-hosted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566928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pipeline · four phases · one decision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2286000"/>
            <a:ext cx="1993392" cy="2468880"/>
          </a:xfrm>
          <a:prstGeom prst="roundRect">
            <a:avLst>
              <a:gd name="adj" fmla="val 4587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2286000"/>
            <a:ext cx="1993392" cy="109728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6" name="Shape 4"/>
          <p:cNvSpPr/>
          <p:nvPr/>
        </p:nvSpPr>
        <p:spPr>
          <a:xfrm>
            <a:off x="1271016" y="2578608"/>
            <a:ext cx="640080" cy="640080"/>
          </a:xfrm>
          <a:prstGeom prst="ellipse">
            <a:avLst/>
          </a:prstGeom>
          <a:solidFill>
            <a:srgbClr val="64748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3838" y="2751430"/>
            <a:ext cx="294437" cy="29443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94360" y="33101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Ingest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40664" y="3703320"/>
            <a:ext cx="1700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diff, parse hunks, rank changed symbols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2587752" y="3108960"/>
            <a:ext cx="2590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DD4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3000" dirty="0"/>
          </a:p>
        </p:txBody>
      </p:sp>
      <p:sp>
        <p:nvSpPr>
          <p:cNvPr id="11" name="Shape 8"/>
          <p:cNvSpPr/>
          <p:nvPr/>
        </p:nvSpPr>
        <p:spPr>
          <a:xfrm>
            <a:off x="2846756" y="2286000"/>
            <a:ext cx="1993392" cy="2468880"/>
          </a:xfrm>
          <a:prstGeom prst="roundRect">
            <a:avLst>
              <a:gd name="adj" fmla="val 4587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846756" y="2286000"/>
            <a:ext cx="1993392" cy="1097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3" name="Shape 10"/>
          <p:cNvSpPr/>
          <p:nvPr/>
        </p:nvSpPr>
        <p:spPr>
          <a:xfrm>
            <a:off x="3523412" y="2578608"/>
            <a:ext cx="640080" cy="640080"/>
          </a:xfrm>
          <a:prstGeom prst="ellipse">
            <a:avLst/>
          </a:prstGeom>
          <a:solidFill>
            <a:srgbClr val="38BDF8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6233" y="2751430"/>
            <a:ext cx="294437" cy="294437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846756" y="33101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1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2993060" y="3703320"/>
            <a:ext cx="1700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 + Security review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4840148" y="3108960"/>
            <a:ext cx="2590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DD4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3000" dirty="0"/>
          </a:p>
        </p:txBody>
      </p:sp>
      <p:sp>
        <p:nvSpPr>
          <p:cNvPr id="18" name="Shape 14"/>
          <p:cNvSpPr/>
          <p:nvPr/>
        </p:nvSpPr>
        <p:spPr>
          <a:xfrm>
            <a:off x="5099152" y="2286000"/>
            <a:ext cx="1993392" cy="2468880"/>
          </a:xfrm>
          <a:prstGeom prst="roundRect">
            <a:avLst>
              <a:gd name="adj" fmla="val 4587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099152" y="2286000"/>
            <a:ext cx="1993392" cy="109728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20" name="Shape 16"/>
          <p:cNvSpPr/>
          <p:nvPr/>
        </p:nvSpPr>
        <p:spPr>
          <a:xfrm>
            <a:off x="5775808" y="2578608"/>
            <a:ext cx="640080" cy="640080"/>
          </a:xfrm>
          <a:prstGeom prst="ellipse">
            <a:avLst/>
          </a:prstGeom>
          <a:solidFill>
            <a:srgbClr val="2DD4BF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8629" y="2751430"/>
            <a:ext cx="294437" cy="294437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5099152" y="33101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1b</a:t>
            </a:r>
            <a:endParaRPr lang="en-US" sz="1500" dirty="0"/>
          </a:p>
        </p:txBody>
      </p:sp>
      <p:sp>
        <p:nvSpPr>
          <p:cNvPr id="23" name="Text 18"/>
          <p:cNvSpPr/>
          <p:nvPr/>
        </p:nvSpPr>
        <p:spPr>
          <a:xfrm>
            <a:off x="5245456" y="3703320"/>
            <a:ext cx="1700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scan: AST, taint, secrets, schema, references, performance, privacy</a:t>
            </a:r>
            <a:endParaRPr lang="en-US" sz="1050" dirty="0"/>
          </a:p>
        </p:txBody>
      </p:sp>
      <p:sp>
        <p:nvSpPr>
          <p:cNvPr id="24" name="Text 19"/>
          <p:cNvSpPr/>
          <p:nvPr/>
        </p:nvSpPr>
        <p:spPr>
          <a:xfrm>
            <a:off x="7092544" y="3108960"/>
            <a:ext cx="2590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DD4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3000" dirty="0"/>
          </a:p>
        </p:txBody>
      </p:sp>
      <p:sp>
        <p:nvSpPr>
          <p:cNvPr id="25" name="Shape 20"/>
          <p:cNvSpPr/>
          <p:nvPr/>
        </p:nvSpPr>
        <p:spPr>
          <a:xfrm>
            <a:off x="7351547" y="2286000"/>
            <a:ext cx="1993392" cy="2468880"/>
          </a:xfrm>
          <a:prstGeom prst="roundRect">
            <a:avLst>
              <a:gd name="adj" fmla="val 4587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7351547" y="2286000"/>
            <a:ext cx="1993392" cy="109728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7" name="Shape 22"/>
          <p:cNvSpPr/>
          <p:nvPr/>
        </p:nvSpPr>
        <p:spPr>
          <a:xfrm>
            <a:off x="8028203" y="2578608"/>
            <a:ext cx="640080" cy="640080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1025" y="2751430"/>
            <a:ext cx="294437" cy="294437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7351547" y="33101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2–3</a:t>
            </a:r>
            <a:endParaRPr lang="en-US" sz="1500" dirty="0"/>
          </a:p>
        </p:txBody>
      </p:sp>
      <p:sp>
        <p:nvSpPr>
          <p:cNvPr id="30" name="Text 24"/>
          <p:cNvSpPr/>
          <p:nvPr/>
        </p:nvSpPr>
        <p:spPr>
          <a:xfrm>
            <a:off x="7497851" y="3703320"/>
            <a:ext cx="1700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Dependency, tests, interface, risk, remediation</a:t>
            </a:r>
            <a:endParaRPr lang="en-US" sz="1050" dirty="0"/>
          </a:p>
        </p:txBody>
      </p:sp>
      <p:sp>
        <p:nvSpPr>
          <p:cNvPr id="31" name="Text 25"/>
          <p:cNvSpPr/>
          <p:nvPr/>
        </p:nvSpPr>
        <p:spPr>
          <a:xfrm>
            <a:off x="9344939" y="3108960"/>
            <a:ext cx="2590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DD4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3000" dirty="0"/>
          </a:p>
        </p:txBody>
      </p:sp>
      <p:sp>
        <p:nvSpPr>
          <p:cNvPr id="32" name="Shape 26"/>
          <p:cNvSpPr/>
          <p:nvPr/>
        </p:nvSpPr>
        <p:spPr>
          <a:xfrm>
            <a:off x="9603943" y="2286000"/>
            <a:ext cx="1993392" cy="2468880"/>
          </a:xfrm>
          <a:prstGeom prst="roundRect">
            <a:avLst>
              <a:gd name="adj" fmla="val 4587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9603943" y="2286000"/>
            <a:ext cx="1993392" cy="10972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4" name="Shape 28"/>
          <p:cNvSpPr/>
          <p:nvPr/>
        </p:nvSpPr>
        <p:spPr>
          <a:xfrm>
            <a:off x="10280599" y="2578608"/>
            <a:ext cx="640080" cy="640080"/>
          </a:xfrm>
          <a:prstGeom prst="ellipse">
            <a:avLst/>
          </a:prstGeom>
          <a:solidFill>
            <a:srgbClr val="16A34A"/>
          </a:solidFill>
          <a:ln/>
        </p:spPr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53421" y="2751430"/>
            <a:ext cx="294437" cy="294437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9603943" y="33101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Gate</a:t>
            </a:r>
            <a:endParaRPr lang="en-US" sz="1500" dirty="0"/>
          </a:p>
        </p:txBody>
      </p:sp>
      <p:sp>
        <p:nvSpPr>
          <p:cNvPr id="37" name="Text 30"/>
          <p:cNvSpPr/>
          <p:nvPr/>
        </p:nvSpPr>
        <p:spPr>
          <a:xfrm>
            <a:off x="9750247" y="3703320"/>
            <a:ext cx="1700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APPROVE / HOLD / BLOCK</a:t>
            </a:r>
            <a:endParaRPr lang="en-US" sz="1050" dirty="0"/>
          </a:p>
        </p:txBody>
      </p:sp>
      <p:sp>
        <p:nvSpPr>
          <p:cNvPr id="38" name="Text 31"/>
          <p:cNvSpPr/>
          <p:nvPr/>
        </p:nvSpPr>
        <p:spPr>
          <a:xfrm>
            <a:off x="594360" y="5440680"/>
            <a:ext cx="110029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</a:t>
            </a:r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(temperature 0 — same diff, same verdict)     •     </a:t>
            </a:r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Evidence-guarded</a:t>
            </a:r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(findings cite file:line in the diff)     •     </a:t>
            </a:r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Correlated</a:t>
            </a:r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(cross-agent dedupe → ranked Top Issues)     •     </a:t>
            </a:r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Self-improving</a:t>
            </a:r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(reviewer feedback suppresses repeat false positives)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PULL-REQUEST 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566928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Covered in Pull-Request Review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23818" cy="2121408"/>
          </a:xfrm>
          <a:prstGeom prst="roundRect">
            <a:avLst>
              <a:gd name="adj" fmla="val 3879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0E1A33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783080"/>
            <a:ext cx="73152" cy="212140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Shape 4"/>
          <p:cNvSpPr/>
          <p:nvPr/>
        </p:nvSpPr>
        <p:spPr>
          <a:xfrm>
            <a:off x="832104" y="2020824"/>
            <a:ext cx="548640" cy="54864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0237" y="2168957"/>
            <a:ext cx="252374" cy="25237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2020824"/>
            <a:ext cx="232653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Security review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50392" y="2715768"/>
            <a:ext cx="291175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10, taint / data-flow analysis, hardcoded secrets &amp; entropy, IaC misconfiguration.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83938" y="1783080"/>
            <a:ext cx="3423818" cy="2121408"/>
          </a:xfrm>
          <a:prstGeom prst="roundRect">
            <a:avLst>
              <a:gd name="adj" fmla="val 3879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0E1A33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83938" y="1783080"/>
            <a:ext cx="73152" cy="212140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Shape 9"/>
          <p:cNvSpPr/>
          <p:nvPr/>
        </p:nvSpPr>
        <p:spPr>
          <a:xfrm>
            <a:off x="4621682" y="2020824"/>
            <a:ext cx="548640" cy="548640"/>
          </a:xfrm>
          <a:prstGeom prst="ellipse">
            <a:avLst/>
          </a:prstGeom>
          <a:solidFill>
            <a:srgbClr val="38BDF8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9815" y="2168957"/>
            <a:ext cx="252374" cy="25237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298338" y="2020824"/>
            <a:ext cx="232653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Code quality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4639970" y="2715768"/>
            <a:ext cx="291175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 analysis: dead code, null-dereference risk, type confusion, complexity &amp; maintainability.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173517" y="1783080"/>
            <a:ext cx="3423818" cy="2121408"/>
          </a:xfrm>
          <a:prstGeom prst="roundRect">
            <a:avLst>
              <a:gd name="adj" fmla="val 3879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0E1A33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173517" y="1783080"/>
            <a:ext cx="73152" cy="212140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Shape 14"/>
          <p:cNvSpPr/>
          <p:nvPr/>
        </p:nvSpPr>
        <p:spPr>
          <a:xfrm>
            <a:off x="8411261" y="2020824"/>
            <a:ext cx="548640" cy="548640"/>
          </a:xfrm>
          <a:prstGeom prst="ellipse">
            <a:avLst/>
          </a:prstGeom>
          <a:solidFill>
            <a:srgbClr val="16A34A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9394" y="2168957"/>
            <a:ext cx="252374" cy="25237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9087917" y="2020824"/>
            <a:ext cx="232653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adequacy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8429549" y="2715768"/>
            <a:ext cx="291175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Method-level scenario gaps, repo-aware (existing tests count), hollow-test detection.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594360" y="4270248"/>
            <a:ext cx="3423818" cy="2121408"/>
          </a:xfrm>
          <a:prstGeom prst="roundRect">
            <a:avLst>
              <a:gd name="adj" fmla="val 3879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0E1A33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94360" y="4270248"/>
            <a:ext cx="73152" cy="212140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4" name="Shape 19"/>
          <p:cNvSpPr/>
          <p:nvPr/>
        </p:nvSpPr>
        <p:spPr>
          <a:xfrm>
            <a:off x="832104" y="4507992"/>
            <a:ext cx="548640" cy="548640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237" y="4656125"/>
            <a:ext cx="252374" cy="252374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508760" y="4507992"/>
            <a:ext cx="232653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Dependencies &amp; SCA</a:t>
            </a:r>
            <a:endParaRPr lang="en-US" sz="1450" dirty="0"/>
          </a:p>
        </p:txBody>
      </p:sp>
      <p:sp>
        <p:nvSpPr>
          <p:cNvPr id="27" name="Text 21"/>
          <p:cNvSpPr/>
          <p:nvPr/>
        </p:nvSpPr>
        <p:spPr>
          <a:xfrm>
            <a:off x="850392" y="5202936"/>
            <a:ext cx="291175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OSV CVE lookup, Maven pom.xml direct-dependency scan, vulnerable-version flags.</a:t>
            </a:r>
            <a:endParaRPr lang="en-US" sz="1150" dirty="0"/>
          </a:p>
        </p:txBody>
      </p:sp>
      <p:sp>
        <p:nvSpPr>
          <p:cNvPr id="28" name="Shape 22"/>
          <p:cNvSpPr/>
          <p:nvPr/>
        </p:nvSpPr>
        <p:spPr>
          <a:xfrm>
            <a:off x="4383938" y="4270248"/>
            <a:ext cx="3423818" cy="2121408"/>
          </a:xfrm>
          <a:prstGeom prst="roundRect">
            <a:avLst>
              <a:gd name="adj" fmla="val 3879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0E1A33">
                <a:alpha val="8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383938" y="4270248"/>
            <a:ext cx="73152" cy="2121408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0" name="Shape 24"/>
          <p:cNvSpPr/>
          <p:nvPr/>
        </p:nvSpPr>
        <p:spPr>
          <a:xfrm>
            <a:off x="4621682" y="4507992"/>
            <a:ext cx="548640" cy="548640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9815" y="4656125"/>
            <a:ext cx="252374" cy="252374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5298338" y="4507992"/>
            <a:ext cx="232653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DB schema safety</a:t>
            </a:r>
            <a:endParaRPr lang="en-US" sz="1450" dirty="0"/>
          </a:p>
        </p:txBody>
      </p:sp>
      <p:sp>
        <p:nvSpPr>
          <p:cNvPr id="33" name="Text 26"/>
          <p:cNvSpPr/>
          <p:nvPr/>
        </p:nvSpPr>
        <p:spPr>
          <a:xfrm>
            <a:off x="4639970" y="5202936"/>
            <a:ext cx="291175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Destructive / irreversible migration detection, rollback SQL, DBA sign-off prompts.</a:t>
            </a:r>
            <a:endParaRPr lang="en-US" sz="1150" dirty="0"/>
          </a:p>
        </p:txBody>
      </p:sp>
      <p:sp>
        <p:nvSpPr>
          <p:cNvPr id="34" name="Shape 27"/>
          <p:cNvSpPr/>
          <p:nvPr/>
        </p:nvSpPr>
        <p:spPr>
          <a:xfrm>
            <a:off x="8173517" y="4270248"/>
            <a:ext cx="3423818" cy="2121408"/>
          </a:xfrm>
          <a:prstGeom prst="roundRect">
            <a:avLst>
              <a:gd name="adj" fmla="val 3879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0E1A33">
                <a:alpha val="8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8173517" y="4270248"/>
            <a:ext cx="73152" cy="2121408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6" name="Shape 29"/>
          <p:cNvSpPr/>
          <p:nvPr/>
        </p:nvSpPr>
        <p:spPr>
          <a:xfrm>
            <a:off x="8411261" y="4507992"/>
            <a:ext cx="548640" cy="548640"/>
          </a:xfrm>
          <a:prstGeom prst="ellipse">
            <a:avLst/>
          </a:prstGeom>
          <a:solidFill>
            <a:srgbClr val="2DD4BF"/>
          </a:solidFill>
          <a:ln/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59394" y="4656125"/>
            <a:ext cx="252374" cy="252374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9087917" y="4507992"/>
            <a:ext cx="232653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Compliance mapping</a:t>
            </a:r>
            <a:endParaRPr lang="en-US" sz="1450" dirty="0"/>
          </a:p>
        </p:txBody>
      </p:sp>
      <p:sp>
        <p:nvSpPr>
          <p:cNvPr id="39" name="Text 31"/>
          <p:cNvSpPr/>
          <p:nvPr/>
        </p:nvSpPr>
        <p:spPr>
          <a:xfrm>
            <a:off x="8429549" y="5202936"/>
            <a:ext cx="291175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/ fail mapped to OWASP, PCI-DSS 4.0 and CWE Top 25 — with code evidence.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ANALYSIS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566928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Covered in Impact Analysis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23818" cy="2121408"/>
          </a:xfrm>
          <a:prstGeom prst="roundRect">
            <a:avLst>
              <a:gd name="adj" fmla="val 3879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0E1A33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783080"/>
            <a:ext cx="73152" cy="2121408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6" name="Shape 4"/>
          <p:cNvSpPr/>
          <p:nvPr/>
        </p:nvSpPr>
        <p:spPr>
          <a:xfrm>
            <a:off x="832104" y="2020824"/>
            <a:ext cx="548640" cy="548640"/>
          </a:xfrm>
          <a:prstGeom prst="ellipse">
            <a:avLst/>
          </a:prstGeom>
          <a:solidFill>
            <a:srgbClr val="2DD4B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0237" y="2168957"/>
            <a:ext cx="252374" cy="25237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2020824"/>
            <a:ext cx="232653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Blast radius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50392" y="2715768"/>
            <a:ext cx="291175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traversal (NetworkX / Neo4j) or derived from real signals — scored 0–100 with a breakdown.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83938" y="1783080"/>
            <a:ext cx="3423818" cy="2121408"/>
          </a:xfrm>
          <a:prstGeom prst="roundRect">
            <a:avLst>
              <a:gd name="adj" fmla="val 3879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0E1A33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83938" y="1783080"/>
            <a:ext cx="73152" cy="212140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Shape 9"/>
          <p:cNvSpPr/>
          <p:nvPr/>
        </p:nvSpPr>
        <p:spPr>
          <a:xfrm>
            <a:off x="4621682" y="2020824"/>
            <a:ext cx="548640" cy="548640"/>
          </a:xfrm>
          <a:prstGeom prst="ellipse">
            <a:avLst/>
          </a:prstGeom>
          <a:solidFill>
            <a:srgbClr val="38BDF8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9815" y="2168957"/>
            <a:ext cx="252374" cy="25237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298338" y="2020824"/>
            <a:ext cx="232653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Cross-repo references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4639970" y="2715768"/>
            <a:ext cx="291175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call-sites in dependent repos: warm mirror → provider code search → shallow clone + grep.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173517" y="1783080"/>
            <a:ext cx="3423818" cy="2121408"/>
          </a:xfrm>
          <a:prstGeom prst="roundRect">
            <a:avLst>
              <a:gd name="adj" fmla="val 3879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0E1A33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173517" y="1783080"/>
            <a:ext cx="73152" cy="212140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Shape 14"/>
          <p:cNvSpPr/>
          <p:nvPr/>
        </p:nvSpPr>
        <p:spPr>
          <a:xfrm>
            <a:off x="8411261" y="2020824"/>
            <a:ext cx="548640" cy="54864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9394" y="2168957"/>
            <a:ext cx="252374" cy="25237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9087917" y="2020824"/>
            <a:ext cx="232653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Downstream consumers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8429549" y="2715768"/>
            <a:ext cx="291175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call-sites a breaking change will break, each with its likely runtime failure mode.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594360" y="4270248"/>
            <a:ext cx="3423818" cy="2121408"/>
          </a:xfrm>
          <a:prstGeom prst="roundRect">
            <a:avLst>
              <a:gd name="adj" fmla="val 3879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0E1A33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94360" y="4270248"/>
            <a:ext cx="73152" cy="2121408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4" name="Shape 19"/>
          <p:cNvSpPr/>
          <p:nvPr/>
        </p:nvSpPr>
        <p:spPr>
          <a:xfrm>
            <a:off x="832104" y="4507992"/>
            <a:ext cx="548640" cy="548640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237" y="4656125"/>
            <a:ext cx="252374" cy="252374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508760" y="4507992"/>
            <a:ext cx="232653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Interface &amp; contracts</a:t>
            </a:r>
            <a:endParaRPr lang="en-US" sz="1450" dirty="0"/>
          </a:p>
        </p:txBody>
      </p:sp>
      <p:sp>
        <p:nvSpPr>
          <p:cNvPr id="27" name="Text 21"/>
          <p:cNvSpPr/>
          <p:nvPr/>
        </p:nvSpPr>
        <p:spPr>
          <a:xfrm>
            <a:off x="850392" y="5202936"/>
            <a:ext cx="291175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Breaking changes (removed / renamed / retyped) + additive data-model fields + serialization config.</a:t>
            </a:r>
            <a:endParaRPr lang="en-US" sz="1150" dirty="0"/>
          </a:p>
        </p:txBody>
      </p:sp>
      <p:sp>
        <p:nvSpPr>
          <p:cNvPr id="28" name="Shape 22"/>
          <p:cNvSpPr/>
          <p:nvPr/>
        </p:nvSpPr>
        <p:spPr>
          <a:xfrm>
            <a:off x="4383938" y="4270248"/>
            <a:ext cx="3423818" cy="2121408"/>
          </a:xfrm>
          <a:prstGeom prst="roundRect">
            <a:avLst>
              <a:gd name="adj" fmla="val 3879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0E1A33">
                <a:alpha val="8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383938" y="4270248"/>
            <a:ext cx="73152" cy="212140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0" name="Shape 24"/>
          <p:cNvSpPr/>
          <p:nvPr/>
        </p:nvSpPr>
        <p:spPr>
          <a:xfrm>
            <a:off x="4621682" y="4507992"/>
            <a:ext cx="548640" cy="548640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9815" y="4656125"/>
            <a:ext cx="252374" cy="252374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5298338" y="4507992"/>
            <a:ext cx="232653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Call / reference graph</a:t>
            </a:r>
            <a:endParaRPr lang="en-US" sz="1450" dirty="0"/>
          </a:p>
        </p:txBody>
      </p:sp>
      <p:sp>
        <p:nvSpPr>
          <p:cNvPr id="33" name="Text 26"/>
          <p:cNvSpPr/>
          <p:nvPr/>
        </p:nvSpPr>
        <p:spPr>
          <a:xfrm>
            <a:off x="4639970" y="5202936"/>
            <a:ext cx="291175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and force views, folder grouping and focus-on-hover to read large graphs clearly.</a:t>
            </a:r>
            <a:endParaRPr lang="en-US" sz="1150" dirty="0"/>
          </a:p>
        </p:txBody>
      </p:sp>
      <p:sp>
        <p:nvSpPr>
          <p:cNvPr id="34" name="Shape 27"/>
          <p:cNvSpPr/>
          <p:nvPr/>
        </p:nvSpPr>
        <p:spPr>
          <a:xfrm>
            <a:off x="8173517" y="4270248"/>
            <a:ext cx="3423818" cy="2121408"/>
          </a:xfrm>
          <a:prstGeom prst="roundRect">
            <a:avLst>
              <a:gd name="adj" fmla="val 3879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0E1A33">
                <a:alpha val="8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8173517" y="4270248"/>
            <a:ext cx="73152" cy="212140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6" name="Shape 29"/>
          <p:cNvSpPr/>
          <p:nvPr/>
        </p:nvSpPr>
        <p:spPr>
          <a:xfrm>
            <a:off x="8411261" y="4507992"/>
            <a:ext cx="548640" cy="548640"/>
          </a:xfrm>
          <a:prstGeom prst="ellipse">
            <a:avLst/>
          </a:prstGeom>
          <a:solidFill>
            <a:srgbClr val="16A34A"/>
          </a:solidFill>
          <a:ln/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59394" y="4656125"/>
            <a:ext cx="252374" cy="252374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9087917" y="4507992"/>
            <a:ext cx="232653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Capability mapping</a:t>
            </a:r>
            <a:endParaRPr lang="en-US" sz="1450" dirty="0"/>
          </a:p>
        </p:txBody>
      </p:sp>
      <p:sp>
        <p:nvSpPr>
          <p:cNvPr id="39" name="Text 31"/>
          <p:cNvSpPr/>
          <p:nvPr/>
        </p:nvSpPr>
        <p:spPr>
          <a:xfrm>
            <a:off x="8429549" y="5202936"/>
            <a:ext cx="291175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changed files to the owning business capabilities and teams to loop into the review.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TECHNIQUES &amp; TERMINOLOGY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566928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analysis techniques, in plain English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572768"/>
            <a:ext cx="5318608" cy="1024128"/>
          </a:xfrm>
          <a:prstGeom prst="roundRect">
            <a:avLst>
              <a:gd name="adj" fmla="val 7143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572768"/>
            <a:ext cx="64008" cy="10241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6" name="Shape 4"/>
          <p:cNvSpPr/>
          <p:nvPr/>
        </p:nvSpPr>
        <p:spPr>
          <a:xfrm>
            <a:off x="813816" y="1856232"/>
            <a:ext cx="457200" cy="457200"/>
          </a:xfrm>
          <a:prstGeom prst="ellipse">
            <a:avLst/>
          </a:prstGeom>
          <a:solidFill>
            <a:srgbClr val="38BDF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1979676"/>
            <a:ext cx="210312" cy="2103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99032" y="1700784"/>
            <a:ext cx="435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AST Analysis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399032" y="2002536"/>
            <a:ext cx="43127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Parses real syntax trees (tree-sitter: Java, Kotlin, C#, JS/TS, Go + Python) to measure exact complexity and flag dead code, null risk and type confusion — without running the code.</a:t>
            </a:r>
            <a:endParaRPr lang="en-US" sz="1030" dirty="0"/>
          </a:p>
        </p:txBody>
      </p:sp>
      <p:sp>
        <p:nvSpPr>
          <p:cNvPr id="10" name="Shape 7"/>
          <p:cNvSpPr/>
          <p:nvPr/>
        </p:nvSpPr>
        <p:spPr>
          <a:xfrm>
            <a:off x="6278728" y="1572768"/>
            <a:ext cx="5318608" cy="1024128"/>
          </a:xfrm>
          <a:prstGeom prst="roundRect">
            <a:avLst>
              <a:gd name="adj" fmla="val 7143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278728" y="1572768"/>
            <a:ext cx="64008" cy="1024128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12" name="Shape 9"/>
          <p:cNvSpPr/>
          <p:nvPr/>
        </p:nvSpPr>
        <p:spPr>
          <a:xfrm>
            <a:off x="6498184" y="1856232"/>
            <a:ext cx="457200" cy="457200"/>
          </a:xfrm>
          <a:prstGeom prst="ellipse">
            <a:avLst/>
          </a:prstGeom>
          <a:solidFill>
            <a:srgbClr val="2DD4B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1628" y="1979676"/>
            <a:ext cx="210312" cy="21031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083400" y="1700784"/>
            <a:ext cx="435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IaC Scanning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7083400" y="2002536"/>
            <a:ext cx="43127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infrastructure-as-code (Terraform, Kubernetes, Docker) for security misconfigurations before deploy.</a:t>
            </a:r>
            <a:endParaRPr lang="en-US" sz="1030" dirty="0"/>
          </a:p>
        </p:txBody>
      </p:sp>
      <p:sp>
        <p:nvSpPr>
          <p:cNvPr id="16" name="Shape 12"/>
          <p:cNvSpPr/>
          <p:nvPr/>
        </p:nvSpPr>
        <p:spPr>
          <a:xfrm>
            <a:off x="594360" y="2724912"/>
            <a:ext cx="5318608" cy="1024128"/>
          </a:xfrm>
          <a:prstGeom prst="roundRect">
            <a:avLst>
              <a:gd name="adj" fmla="val 7143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94360" y="2724912"/>
            <a:ext cx="64008" cy="102412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Shape 14"/>
          <p:cNvSpPr/>
          <p:nvPr/>
        </p:nvSpPr>
        <p:spPr>
          <a:xfrm>
            <a:off x="813816" y="3008376"/>
            <a:ext cx="457200" cy="4572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" y="3131820"/>
            <a:ext cx="210312" cy="21031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399032" y="2852928"/>
            <a:ext cx="435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Entropy / Secrets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1399032" y="3154680"/>
            <a:ext cx="43127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Shannon-entropy scoring plus known key prefixes to catch hardcoded credentials, API keys and tokens.</a:t>
            </a:r>
            <a:endParaRPr lang="en-US" sz="1030" dirty="0"/>
          </a:p>
        </p:txBody>
      </p:sp>
      <p:sp>
        <p:nvSpPr>
          <p:cNvPr id="22" name="Shape 17"/>
          <p:cNvSpPr/>
          <p:nvPr/>
        </p:nvSpPr>
        <p:spPr>
          <a:xfrm>
            <a:off x="6278728" y="2724912"/>
            <a:ext cx="5318608" cy="1024128"/>
          </a:xfrm>
          <a:prstGeom prst="roundRect">
            <a:avLst>
              <a:gd name="adj" fmla="val 7143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278728" y="2724912"/>
            <a:ext cx="64008" cy="102412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4" name="Shape 19"/>
          <p:cNvSpPr/>
          <p:nvPr/>
        </p:nvSpPr>
        <p:spPr>
          <a:xfrm>
            <a:off x="6498184" y="3008376"/>
            <a:ext cx="457200" cy="457200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1628" y="3131820"/>
            <a:ext cx="210312" cy="21031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083400" y="2852928"/>
            <a:ext cx="435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 — Composition Analysis</a:t>
            </a:r>
            <a:endParaRPr lang="en-US" sz="1350" dirty="0"/>
          </a:p>
        </p:txBody>
      </p:sp>
      <p:sp>
        <p:nvSpPr>
          <p:cNvPr id="27" name="Text 21"/>
          <p:cNvSpPr/>
          <p:nvPr/>
        </p:nvSpPr>
        <p:spPr>
          <a:xfrm>
            <a:off x="7083400" y="3154680"/>
            <a:ext cx="43127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 third-party dependencies against the OSV database for known CVEs (vulnerable versions).</a:t>
            </a:r>
            <a:endParaRPr lang="en-US" sz="1030" dirty="0"/>
          </a:p>
        </p:txBody>
      </p:sp>
      <p:sp>
        <p:nvSpPr>
          <p:cNvPr id="28" name="Shape 22"/>
          <p:cNvSpPr/>
          <p:nvPr/>
        </p:nvSpPr>
        <p:spPr>
          <a:xfrm>
            <a:off x="594360" y="3877056"/>
            <a:ext cx="5318608" cy="1024128"/>
          </a:xfrm>
          <a:prstGeom prst="roundRect">
            <a:avLst>
              <a:gd name="adj" fmla="val 7143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594360" y="3877056"/>
            <a:ext cx="64008" cy="1024128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0" name="Shape 24"/>
          <p:cNvSpPr/>
          <p:nvPr/>
        </p:nvSpPr>
        <p:spPr>
          <a:xfrm>
            <a:off x="813816" y="416052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260" y="4283964"/>
            <a:ext cx="210312" cy="210312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1399032" y="4005072"/>
            <a:ext cx="435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Taint Analysis</a:t>
            </a:r>
            <a:endParaRPr lang="en-US" sz="1350" dirty="0"/>
          </a:p>
        </p:txBody>
      </p:sp>
      <p:sp>
        <p:nvSpPr>
          <p:cNvPr id="33" name="Text 26"/>
          <p:cNvSpPr/>
          <p:nvPr/>
        </p:nvSpPr>
        <p:spPr>
          <a:xfrm>
            <a:off x="1399032" y="4306824"/>
            <a:ext cx="43127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Follows untrusted input (source) to a dangerous operation (sink) to expose injection &amp; data-flow flaws (CWE).</a:t>
            </a:r>
            <a:endParaRPr lang="en-US" sz="1030" dirty="0"/>
          </a:p>
        </p:txBody>
      </p:sp>
      <p:sp>
        <p:nvSpPr>
          <p:cNvPr id="34" name="Shape 27"/>
          <p:cNvSpPr/>
          <p:nvPr/>
        </p:nvSpPr>
        <p:spPr>
          <a:xfrm>
            <a:off x="6278728" y="3877056"/>
            <a:ext cx="5318608" cy="1024128"/>
          </a:xfrm>
          <a:prstGeom prst="roundRect">
            <a:avLst>
              <a:gd name="adj" fmla="val 7143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6278728" y="3877056"/>
            <a:ext cx="64008" cy="1024128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6" name="Shape 29"/>
          <p:cNvSpPr/>
          <p:nvPr/>
        </p:nvSpPr>
        <p:spPr>
          <a:xfrm>
            <a:off x="6498184" y="4160520"/>
            <a:ext cx="457200" cy="457200"/>
          </a:xfrm>
          <a:prstGeom prst="ellipse">
            <a:avLst/>
          </a:prstGeom>
          <a:solidFill>
            <a:srgbClr val="2DD4BF"/>
          </a:solidFill>
          <a:ln/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1628" y="4283964"/>
            <a:ext cx="210312" cy="210312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7083400" y="4005072"/>
            <a:ext cx="435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Blast Radius</a:t>
            </a:r>
            <a:endParaRPr lang="en-US" sz="1350" dirty="0"/>
          </a:p>
        </p:txBody>
      </p:sp>
      <p:sp>
        <p:nvSpPr>
          <p:cNvPr id="39" name="Text 31"/>
          <p:cNvSpPr/>
          <p:nvPr/>
        </p:nvSpPr>
        <p:spPr>
          <a:xfrm>
            <a:off x="7083400" y="4306824"/>
            <a:ext cx="43127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traversal that scores how far a change ripples across files and services, from 0 to 100.</a:t>
            </a:r>
            <a:endParaRPr lang="en-US" sz="1030" dirty="0"/>
          </a:p>
        </p:txBody>
      </p:sp>
      <p:sp>
        <p:nvSpPr>
          <p:cNvPr id="40" name="Shape 32"/>
          <p:cNvSpPr/>
          <p:nvPr/>
        </p:nvSpPr>
        <p:spPr>
          <a:xfrm>
            <a:off x="594360" y="5029200"/>
            <a:ext cx="5318608" cy="1024128"/>
          </a:xfrm>
          <a:prstGeom prst="roundRect">
            <a:avLst>
              <a:gd name="adj" fmla="val 7143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594360" y="5029200"/>
            <a:ext cx="64008" cy="102412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2" name="Shape 34"/>
          <p:cNvSpPr/>
          <p:nvPr/>
        </p:nvSpPr>
        <p:spPr>
          <a:xfrm>
            <a:off x="813816" y="5312664"/>
            <a:ext cx="457200" cy="457200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4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7260" y="5436108"/>
            <a:ext cx="210312" cy="210312"/>
          </a:xfrm>
          <a:prstGeom prst="rect">
            <a:avLst/>
          </a:prstGeom>
        </p:spPr>
      </p:pic>
      <p:sp>
        <p:nvSpPr>
          <p:cNvPr id="44" name="Text 35"/>
          <p:cNvSpPr/>
          <p:nvPr/>
        </p:nvSpPr>
        <p:spPr>
          <a:xfrm>
            <a:off x="1399032" y="5157216"/>
            <a:ext cx="435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Temporal Risk</a:t>
            </a:r>
            <a:endParaRPr lang="en-US" sz="1350" dirty="0"/>
          </a:p>
        </p:txBody>
      </p:sp>
      <p:sp>
        <p:nvSpPr>
          <p:cNvPr id="45" name="Text 36"/>
          <p:cNvSpPr/>
          <p:nvPr/>
        </p:nvSpPr>
        <p:spPr>
          <a:xfrm>
            <a:off x="1399032" y="5458968"/>
            <a:ext cx="43127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Mines change history for hot files, escalating churn and security erosion over time.</a:t>
            </a:r>
            <a:endParaRPr lang="en-US" sz="1030" dirty="0"/>
          </a:p>
        </p:txBody>
      </p:sp>
      <p:sp>
        <p:nvSpPr>
          <p:cNvPr id="46" name="Shape 37"/>
          <p:cNvSpPr/>
          <p:nvPr/>
        </p:nvSpPr>
        <p:spPr>
          <a:xfrm>
            <a:off x="6278728" y="5029200"/>
            <a:ext cx="5318608" cy="1024128"/>
          </a:xfrm>
          <a:prstGeom prst="roundRect">
            <a:avLst>
              <a:gd name="adj" fmla="val 7143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Shape 38"/>
          <p:cNvSpPr/>
          <p:nvPr/>
        </p:nvSpPr>
        <p:spPr>
          <a:xfrm>
            <a:off x="6278728" y="5029200"/>
            <a:ext cx="64008" cy="1024128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8" name="Shape 39"/>
          <p:cNvSpPr/>
          <p:nvPr/>
        </p:nvSpPr>
        <p:spPr>
          <a:xfrm>
            <a:off x="6498184" y="5312664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4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1628" y="5436108"/>
            <a:ext cx="210312" cy="210312"/>
          </a:xfrm>
          <a:prstGeom prst="rect">
            <a:avLst/>
          </a:prstGeom>
        </p:spPr>
      </p:pic>
      <p:sp>
        <p:nvSpPr>
          <p:cNvPr id="50" name="Text 40"/>
          <p:cNvSpPr/>
          <p:nvPr/>
        </p:nvSpPr>
        <p:spPr>
          <a:xfrm>
            <a:off x="7083400" y="5157216"/>
            <a:ext cx="435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LLM-as-Judge</a:t>
            </a:r>
            <a:endParaRPr lang="en-US" sz="1350" dirty="0"/>
          </a:p>
        </p:txBody>
      </p:sp>
      <p:sp>
        <p:nvSpPr>
          <p:cNvPr id="51" name="Text 41"/>
          <p:cNvSpPr/>
          <p:nvPr/>
        </p:nvSpPr>
        <p:spPr>
          <a:xfrm>
            <a:off x="7083400" y="5458968"/>
            <a:ext cx="43127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AI judges grade every agent's output for completeness, precision and specificity.</a:t>
            </a:r>
            <a:endParaRPr lang="en-US" sz="1030" dirty="0"/>
          </a:p>
        </p:txBody>
      </p:sp>
      <p:sp>
        <p:nvSpPr>
          <p:cNvPr id="52" name="Text 42"/>
          <p:cNvSpPr/>
          <p:nvPr/>
        </p:nvSpPr>
        <p:spPr>
          <a:xfrm>
            <a:off x="594360" y="635508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Also: </a:t>
            </a:r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Reference-impact</a:t>
            </a:r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(cross-repo call-site tracing)  ·  </a:t>
            </a:r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Cross-agent correlation</a:t>
            </a:r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(agreement boosts confidence, dedupes to Top Issues)  ·  </a:t>
            </a:r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temp-0</a:t>
            </a:r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inference  ·  </a:t>
            </a:r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 breakers</a:t>
            </a:r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(auto-isolate a failing agent)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 · TECHNIQUE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566928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Taint Analysis — source → sink data flow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178308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2057400"/>
            <a:ext cx="5440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Taint analysis tracks data from where it enters the system to where it is used, following it through assignments and method calls.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94360" y="301752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DETECTS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3310128"/>
            <a:ext cx="5394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/ command / LDAP injection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Cross-site scripting (XSS)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traversal &amp; SSRF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unsanitised value reaching a sensitive sink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5138928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5413248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high-severity breaches are a tainted value reaching a dangerous sink. CIAA shows the exact source → sink path with its CWE.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0" y="1783080"/>
            <a:ext cx="5196535" cy="4434840"/>
          </a:xfrm>
          <a:prstGeom prst="roundRect">
            <a:avLst>
              <a:gd name="adj" fmla="val 1856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03720" y="2148840"/>
            <a:ext cx="4190695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16A3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68312" y="2258568"/>
            <a:ext cx="3916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 SOURCE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068312" y="2514600"/>
            <a:ext cx="38615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request.getParameter("id")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068312" y="2798064"/>
            <a:ext cx="386151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 user input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724748" y="31821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903720" y="3474720"/>
            <a:ext cx="4190695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8312" y="3584448"/>
            <a:ext cx="3916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 PROPAGATION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068312" y="3840480"/>
            <a:ext cx="38615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q = "...WHERE id=" + id;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068312" y="4123944"/>
            <a:ext cx="386151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taint flows into the query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24748" y="45079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903720" y="4800600"/>
            <a:ext cx="4190695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68312" y="4910328"/>
            <a:ext cx="3916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 SINK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68312" y="5166360"/>
            <a:ext cx="38615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stmt.execute(q)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068312" y="5449824"/>
            <a:ext cx="386151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injection — CWE-89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 · TECHNIQUE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566928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AST Analysis — understanding code structure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178308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2057400"/>
            <a:ext cx="5440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Tree-sitter parses source into a real syntax tree (Java, Kotlin, C#, JS/TS, Go — plus Python via stdlib ast), which CIAA walks to measure exact complexity without executing the code.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94360" y="301752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DETECTS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3310128"/>
            <a:ext cx="5394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Unreachable / dead code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Null-dereference &amp; none-type risk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confusion / unsafe casts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&amp; deep-nesting hot-spots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5138928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5413248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latent bugs a regex linter can't see, because it reasons over structure — not just text.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0" y="1783080"/>
            <a:ext cx="5196535" cy="4434840"/>
          </a:xfrm>
          <a:prstGeom prst="roundRect">
            <a:avLst>
              <a:gd name="adj" fmla="val 1856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66560" y="2057400"/>
            <a:ext cx="4465015" cy="1280160"/>
          </a:xfrm>
          <a:prstGeom prst="roundRect">
            <a:avLst>
              <a:gd name="adj" fmla="val 5000"/>
            </a:avLst>
          </a:prstGeom>
          <a:solidFill>
            <a:srgbClr val="0E1A33"/>
          </a:solidFill>
          <a:ln/>
        </p:spPr>
      </p:sp>
      <p:sp>
        <p:nvSpPr>
          <p:cNvPr id="12" name="Text 10"/>
          <p:cNvSpPr/>
          <p:nvPr/>
        </p:nvSpPr>
        <p:spPr>
          <a:xfrm>
            <a:off x="6949440" y="2157984"/>
            <a:ext cx="41906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risk(int x) {</a:t>
            </a:r>
            <a:endParaRPr lang="en-US" sz="11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(x &gt; 0) return x;</a:t>
            </a:r>
            <a:endParaRPr lang="en-US" sz="11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FCA5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log(x);  // unreachable</a:t>
            </a:r>
            <a:endParaRPr lang="en-US" sz="11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0" y="3429000"/>
            <a:ext cx="5196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parsed into an AST ▼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30388" y="379476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/>
        </p:spPr>
      </p:sp>
      <p:sp>
        <p:nvSpPr>
          <p:cNvPr id="15" name="Text 13"/>
          <p:cNvSpPr/>
          <p:nvPr/>
        </p:nvSpPr>
        <p:spPr>
          <a:xfrm>
            <a:off x="8130388" y="3794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method risk()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999068" y="4251960"/>
            <a:ext cx="-1691640" cy="41148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75908" y="466344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75908" y="4663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(x&gt;0)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999068" y="4251960"/>
            <a:ext cx="0" cy="41148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67548" y="466344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67548" y="4663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x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999068" y="4251960"/>
            <a:ext cx="1691640" cy="41148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959188" y="466344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DC262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959188" y="4663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log(x) ⚠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 · TECHNIQUE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566928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Entropy &amp; Secrets — spotting hardcoded keys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178308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2057400"/>
            <a:ext cx="5440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Entropy measures how random a string is. Real secrets (keys, tokens) look random — high entropy — while normal text and config do not.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94360" y="301752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DETECTS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3310128"/>
            <a:ext cx="5394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Hardcoded API keys &amp; tokens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 &amp; connection strings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keys / certificates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prefixes: AKIA, ghp_, sk-…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5138928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5413248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committed credential can compromise a whole system. Entropy + prefix rules catch them before they reach repo history.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0" y="1783080"/>
            <a:ext cx="5196535" cy="4434840"/>
          </a:xfrm>
          <a:prstGeom prst="roundRect">
            <a:avLst>
              <a:gd name="adj" fmla="val 1856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66560" y="2103120"/>
            <a:ext cx="4465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ENTROPY SCORE (0–8 bits)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766560" y="2606040"/>
            <a:ext cx="4465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apiKey = "AKIAJ4F2K7Q7VZ8XN1"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766560" y="2971800"/>
            <a:ext cx="3367735" cy="237744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14" name="Shape 12"/>
          <p:cNvSpPr/>
          <p:nvPr/>
        </p:nvSpPr>
        <p:spPr>
          <a:xfrm>
            <a:off x="6766560" y="2971800"/>
            <a:ext cx="2896252" cy="237744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10244023" y="2916936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4.9 ⚠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766560" y="3794760"/>
            <a:ext cx="4465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greeting = "hello world"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766560" y="4160520"/>
            <a:ext cx="3367735" cy="237744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18" name="Shape 16"/>
          <p:cNvSpPr/>
          <p:nvPr/>
        </p:nvSpPr>
        <p:spPr>
          <a:xfrm>
            <a:off x="6766560" y="4160520"/>
            <a:ext cx="1145030" cy="237744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/>
        </p:spPr>
      </p:sp>
      <p:sp>
        <p:nvSpPr>
          <p:cNvPr id="19" name="Text 17"/>
          <p:cNvSpPr/>
          <p:nvPr/>
        </p:nvSpPr>
        <p:spPr>
          <a:xfrm>
            <a:off x="10244023" y="4105656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 ✓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766560" y="4983480"/>
            <a:ext cx="4465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token = "ghp_xT9...";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766560" y="5349240"/>
            <a:ext cx="3367735" cy="237744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22" name="Shape 20"/>
          <p:cNvSpPr/>
          <p:nvPr/>
        </p:nvSpPr>
        <p:spPr>
          <a:xfrm>
            <a:off x="6766560" y="5349240"/>
            <a:ext cx="3030962" cy="237744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/>
        </p:spPr>
      </p:sp>
      <p:sp>
        <p:nvSpPr>
          <p:cNvPr id="23" name="Text 21"/>
          <p:cNvSpPr/>
          <p:nvPr/>
        </p:nvSpPr>
        <p:spPr>
          <a:xfrm>
            <a:off x="10244023" y="5294376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⚠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 · TECHNIQUE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566928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Temporal Risk — learning from change history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178308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2057400"/>
            <a:ext cx="5440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risk looks beyond this PR at a file's history — how often it changes, whether changes are getting riskier, and security regressions over time.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94360" y="301752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DETECTS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3310128"/>
            <a:ext cx="5394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hot-spots (frequently changed files)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Escalating change patterns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erosion across commits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with repeated past incidents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5138928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5413248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that change constantly and trend riskier are where defects cluster — history tells you where to look first.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0" y="1783080"/>
            <a:ext cx="5196535" cy="4434840"/>
          </a:xfrm>
          <a:prstGeom prst="roundRect">
            <a:avLst>
              <a:gd name="adj" fmla="val 1856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66560" y="2103120"/>
            <a:ext cx="4465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FREQUENCY  ·  RISK TREND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766560" y="2606040"/>
            <a:ext cx="4465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PaymentService.java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766560" y="2907792"/>
            <a:ext cx="3093415" cy="237744"/>
          </a:xfrm>
          <a:prstGeom prst="roundRect">
            <a:avLst>
              <a:gd name="adj" fmla="val 19231"/>
            </a:avLst>
          </a:prstGeom>
          <a:solidFill>
            <a:srgbClr val="E2E8F0"/>
          </a:solidFill>
          <a:ln/>
        </p:spPr>
      </p:sp>
      <p:sp>
        <p:nvSpPr>
          <p:cNvPr id="14" name="Shape 12"/>
          <p:cNvSpPr/>
          <p:nvPr/>
        </p:nvSpPr>
        <p:spPr>
          <a:xfrm>
            <a:off x="6766560" y="2907792"/>
            <a:ext cx="2938744" cy="237744"/>
          </a:xfrm>
          <a:prstGeom prst="roundRect">
            <a:avLst>
              <a:gd name="adj" fmla="val 19231"/>
            </a:avLst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9969703" y="2852928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14×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579815" y="26060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degrading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766560" y="3566160"/>
            <a:ext cx="4465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AccountDao.java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766560" y="3867912"/>
            <a:ext cx="3093415" cy="237744"/>
          </a:xfrm>
          <a:prstGeom prst="roundRect">
            <a:avLst>
              <a:gd name="adj" fmla="val 19231"/>
            </a:avLst>
          </a:prstGeom>
          <a:solidFill>
            <a:srgbClr val="E2E8F0"/>
          </a:solidFill>
          <a:ln/>
        </p:spPr>
      </p:sp>
      <p:sp>
        <p:nvSpPr>
          <p:cNvPr id="19" name="Shape 17"/>
          <p:cNvSpPr/>
          <p:nvPr/>
        </p:nvSpPr>
        <p:spPr>
          <a:xfrm>
            <a:off x="6766560" y="3867912"/>
            <a:ext cx="1917917" cy="237744"/>
          </a:xfrm>
          <a:prstGeom prst="roundRect">
            <a:avLst>
              <a:gd name="adj" fmla="val 19231"/>
            </a:avLst>
          </a:prstGeom>
          <a:solidFill>
            <a:srgbClr val="D97706"/>
          </a:solidFill>
          <a:ln/>
        </p:spPr>
      </p:sp>
      <p:sp>
        <p:nvSpPr>
          <p:cNvPr id="20" name="Text 18"/>
          <p:cNvSpPr/>
          <p:nvPr/>
        </p:nvSpPr>
        <p:spPr>
          <a:xfrm>
            <a:off x="9969703" y="3813048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9×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579815" y="3566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stable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766560" y="4526280"/>
            <a:ext cx="4465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JsonWrapperUtils.java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766560" y="4828032"/>
            <a:ext cx="3093415" cy="237744"/>
          </a:xfrm>
          <a:prstGeom prst="roundRect">
            <a:avLst>
              <a:gd name="adj" fmla="val 19231"/>
            </a:avLst>
          </a:prstGeom>
          <a:solidFill>
            <a:srgbClr val="E2E8F0"/>
          </a:solidFill>
          <a:ln/>
        </p:spPr>
      </p:sp>
      <p:sp>
        <p:nvSpPr>
          <p:cNvPr id="24" name="Shape 22"/>
          <p:cNvSpPr/>
          <p:nvPr/>
        </p:nvSpPr>
        <p:spPr>
          <a:xfrm>
            <a:off x="6766560" y="4828032"/>
            <a:ext cx="928025" cy="237744"/>
          </a:xfrm>
          <a:prstGeom prst="roundRect">
            <a:avLst>
              <a:gd name="adj" fmla="val 19231"/>
            </a:avLst>
          </a:prstGeom>
          <a:solidFill>
            <a:srgbClr val="16A34A"/>
          </a:solidFill>
          <a:ln/>
        </p:spPr>
      </p:sp>
      <p:sp>
        <p:nvSpPr>
          <p:cNvPr id="25" name="Text 23"/>
          <p:cNvSpPr/>
          <p:nvPr/>
        </p:nvSpPr>
        <p:spPr>
          <a:xfrm>
            <a:off x="9969703" y="4773168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579815" y="45262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improving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 · TECHNIQUE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566928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Blast Radius — how far a change ripples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178308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2057400"/>
            <a:ext cx="5440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CIAA walks the service-dependency graph (NetworkX / Neo4j) — or derives it from real signals — to find everything that transitively depends on what you changed.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94360" y="301752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DETECTS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3310128"/>
            <a:ext cx="5394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&amp; transitively affected services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Shared-library edits with wide fan-out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Breaking changes that amplify reach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0–100 reach score with a breakdown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5138928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5413248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Tells reviewers and release managers how risky a merge is, and which teams to involve — before it ships.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0" y="1783080"/>
            <a:ext cx="5196535" cy="4434840"/>
          </a:xfrm>
          <a:prstGeom prst="roundRect">
            <a:avLst>
              <a:gd name="adj" fmla="val 1856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8412480" y="3035808"/>
            <a:ext cx="1234440" cy="1216152"/>
          </a:xfrm>
          <a:prstGeom prst="line">
            <a:avLst/>
          </a:prstGeom>
          <a:noFill/>
          <a:ln w="15875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8412480" y="3858768"/>
            <a:ext cx="1234440" cy="393192"/>
          </a:xfrm>
          <a:prstGeom prst="line">
            <a:avLst/>
          </a:prstGeom>
          <a:noFill/>
          <a:ln w="15875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0" y="4251960"/>
            <a:ext cx="1234440" cy="429768"/>
          </a:xfrm>
          <a:prstGeom prst="line">
            <a:avLst/>
          </a:prstGeom>
          <a:noFill/>
          <a:ln w="15875">
            <a:solidFill>
              <a:srgbClr val="CBD5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0" y="4251960"/>
            <a:ext cx="1234440" cy="1115568"/>
          </a:xfrm>
          <a:prstGeom prst="line">
            <a:avLst/>
          </a:prstGeom>
          <a:noFill/>
          <a:ln w="15875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66560" y="2011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BLAST RADIUS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814255" y="1993392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/>
        </p:spPr>
      </p:sp>
      <p:sp>
        <p:nvSpPr>
          <p:cNvPr id="17" name="Text 15"/>
          <p:cNvSpPr/>
          <p:nvPr/>
        </p:nvSpPr>
        <p:spPr>
          <a:xfrm>
            <a:off x="9814255" y="1993392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 / 100 · HIGH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812280" y="3977640"/>
            <a:ext cx="1600200" cy="566928"/>
          </a:xfrm>
          <a:prstGeom prst="roundRect">
            <a:avLst>
              <a:gd name="adj" fmla="val 11290"/>
            </a:avLst>
          </a:prstGeom>
          <a:solidFill>
            <a:srgbClr val="DC2626"/>
          </a:solidFill>
          <a:ln/>
        </p:spPr>
      </p:sp>
      <p:sp>
        <p:nvSpPr>
          <p:cNvPr id="19" name="Text 17"/>
          <p:cNvSpPr/>
          <p:nvPr/>
        </p:nvSpPr>
        <p:spPr>
          <a:xfrm>
            <a:off x="6812280" y="403250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shared-domain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812280" y="4288536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ECA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changed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646920" y="2788920"/>
            <a:ext cx="1691640" cy="493776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46920" y="2788920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payments-svc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646920" y="3611880"/>
            <a:ext cx="1691640" cy="493776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17780">
            <a:solidFill>
              <a:srgbClr val="2DD4B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646920" y="3611880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accounts-svc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646920" y="4434840"/>
            <a:ext cx="1691640" cy="493776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46920" y="4434840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ledger-svc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46920" y="5120640"/>
            <a:ext cx="1691640" cy="493776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17780">
            <a:solidFill>
              <a:srgbClr val="2DD4B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646920" y="5120640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billing-svc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766560" y="5806440"/>
            <a:ext cx="4465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transitively depends on the changed library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 · TECHNIQUE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566928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 — finding known CVEs in dependencies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178308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2057400"/>
            <a:ext cx="5440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Composition Analysis inventories your third-party dependencies and checks each version against the OSV vulnerability database for known CVEs.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94360" y="301752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DETECTS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3310128"/>
            <a:ext cx="5394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CVEs in declared dependencies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Vulnerable version ranges (OSV.dev)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+ fixed-version guidance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 pom.xml &amp; other manifests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5138928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5413248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your code is dependencies you didn't write — SCA catches a known-exploited library before it reaches production.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0" y="1783080"/>
            <a:ext cx="5196535" cy="4434840"/>
          </a:xfrm>
          <a:prstGeom prst="roundRect">
            <a:avLst>
              <a:gd name="adj" fmla="val 1856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66560" y="2057400"/>
            <a:ext cx="4465015" cy="868680"/>
          </a:xfrm>
          <a:prstGeom prst="roundRect">
            <a:avLst>
              <a:gd name="adj" fmla="val 7368"/>
            </a:avLst>
          </a:prstGeom>
          <a:solidFill>
            <a:srgbClr val="0E1A33"/>
          </a:solidFill>
          <a:ln/>
        </p:spPr>
      </p:sp>
      <p:sp>
        <p:nvSpPr>
          <p:cNvPr id="12" name="Text 10"/>
          <p:cNvSpPr/>
          <p:nvPr/>
        </p:nvSpPr>
        <p:spPr>
          <a:xfrm>
            <a:off x="6949440" y="2157984"/>
            <a:ext cx="4190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pom.xml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log4j-core · jackson-databind · commons-text …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00800" y="2999232"/>
            <a:ext cx="5196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 scanned against OSV.dev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766560" y="3383280"/>
            <a:ext cx="446501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66560" y="3383280"/>
            <a:ext cx="64008" cy="6949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6" name="Text 14"/>
          <p:cNvSpPr/>
          <p:nvPr/>
        </p:nvSpPr>
        <p:spPr>
          <a:xfrm>
            <a:off x="6967728" y="3474720"/>
            <a:ext cx="3184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log4j-core @ 2.14.1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967728" y="3767328"/>
            <a:ext cx="3184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CVE-2021-44228 (Log4Shell)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271455" y="3584448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/>
        </p:spPr>
      </p:sp>
      <p:sp>
        <p:nvSpPr>
          <p:cNvPr id="19" name="Text 17"/>
          <p:cNvSpPr/>
          <p:nvPr/>
        </p:nvSpPr>
        <p:spPr>
          <a:xfrm>
            <a:off x="10271455" y="358444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766560" y="4224528"/>
            <a:ext cx="446501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0" y="4224528"/>
            <a:ext cx="64008" cy="69494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2" name="Text 20"/>
          <p:cNvSpPr/>
          <p:nvPr/>
        </p:nvSpPr>
        <p:spPr>
          <a:xfrm>
            <a:off x="6967728" y="4315968"/>
            <a:ext cx="3184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jackson-databind @ 2.9.8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967728" y="4608576"/>
            <a:ext cx="3184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CVE-2020-36518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0271455" y="4425696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</p:sp>
      <p:sp>
        <p:nvSpPr>
          <p:cNvPr id="25" name="Text 23"/>
          <p:cNvSpPr/>
          <p:nvPr/>
        </p:nvSpPr>
        <p:spPr>
          <a:xfrm>
            <a:off x="10271455" y="442569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766560" y="5065776"/>
            <a:ext cx="446501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766560" y="5065776"/>
            <a:ext cx="64008" cy="69494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8" name="Text 26"/>
          <p:cNvSpPr/>
          <p:nvPr/>
        </p:nvSpPr>
        <p:spPr>
          <a:xfrm>
            <a:off x="6967728" y="5157216"/>
            <a:ext cx="3184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commons-text @ 1.9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967728" y="5449824"/>
            <a:ext cx="3184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CVE-2022-42889 (Text4Shell)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10271455" y="5266944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</p:sp>
      <p:sp>
        <p:nvSpPr>
          <p:cNvPr id="31" name="Text 29"/>
          <p:cNvSpPr/>
          <p:nvPr/>
        </p:nvSpPr>
        <p:spPr>
          <a:xfrm>
            <a:off x="10271455" y="526694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566928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deterministic, auditable merge decision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393338" cy="3383280"/>
          </a:xfrm>
          <a:prstGeom prst="roundRect">
            <a:avLst>
              <a:gd name="adj" fmla="val 2703"/>
            </a:avLst>
          </a:prstGeom>
          <a:solidFill>
            <a:srgbClr val="F6F8FB"/>
          </a:solidFill>
          <a:ln w="19050">
            <a:solidFill>
              <a:srgbClr val="16A3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3393338" cy="868680"/>
          </a:xfrm>
          <a:prstGeom prst="roundRect">
            <a:avLst>
              <a:gd name="adj" fmla="val 10526"/>
            </a:avLst>
          </a:prstGeom>
          <a:solidFill>
            <a:srgbClr val="16A34A"/>
          </a:solidFill>
          <a:ln/>
        </p:spPr>
      </p:sp>
      <p:sp>
        <p:nvSpPr>
          <p:cNvPr id="6" name="Shape 4"/>
          <p:cNvSpPr/>
          <p:nvPr/>
        </p:nvSpPr>
        <p:spPr>
          <a:xfrm>
            <a:off x="594360" y="2331720"/>
            <a:ext cx="3393338" cy="320040"/>
          </a:xfrm>
          <a:prstGeom prst="rect">
            <a:avLst/>
          </a:prstGeom>
          <a:solidFill>
            <a:srgbClr val="16A3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011680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1947672"/>
            <a:ext cx="24789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APPROVE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868680" y="2743200"/>
            <a:ext cx="28446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can proceed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905256" y="3154680"/>
            <a:ext cx="282641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blocking security/CVE findings</a:t>
            </a:r>
            <a:endParaRPr lang="en-US" sz="1200" dirty="0"/>
          </a:p>
          <a:p>
            <a:pPr marL="177800" indent="-1778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cover new critical paths</a:t>
            </a:r>
            <a:endParaRPr lang="en-US" sz="1200" dirty="0"/>
          </a:p>
          <a:p>
            <a:pPr marL="177800" indent="-1778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breaking contract changes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399178" y="1783080"/>
            <a:ext cx="3393338" cy="3383280"/>
          </a:xfrm>
          <a:prstGeom prst="roundRect">
            <a:avLst>
              <a:gd name="adj" fmla="val 2703"/>
            </a:avLst>
          </a:prstGeom>
          <a:solidFill>
            <a:srgbClr val="F6F8FB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399178" y="1783080"/>
            <a:ext cx="3393338" cy="868680"/>
          </a:xfrm>
          <a:prstGeom prst="roundRect">
            <a:avLst>
              <a:gd name="adj" fmla="val 10526"/>
            </a:avLst>
          </a:prstGeom>
          <a:solidFill>
            <a:srgbClr val="D97706"/>
          </a:solidFill>
          <a:ln/>
        </p:spPr>
      </p:sp>
      <p:sp>
        <p:nvSpPr>
          <p:cNvPr id="13" name="Shape 10"/>
          <p:cNvSpPr/>
          <p:nvPr/>
        </p:nvSpPr>
        <p:spPr>
          <a:xfrm>
            <a:off x="4399178" y="2331720"/>
            <a:ext cx="3393338" cy="320040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9218" y="2011680"/>
            <a:ext cx="411480" cy="4114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222138" y="1947672"/>
            <a:ext cx="24789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HOLD</a:t>
            </a:r>
            <a:endParaRPr lang="en-US" sz="2100" dirty="0"/>
          </a:p>
        </p:txBody>
      </p:sp>
      <p:sp>
        <p:nvSpPr>
          <p:cNvPr id="16" name="Text 12"/>
          <p:cNvSpPr/>
          <p:nvPr/>
        </p:nvSpPr>
        <p:spPr>
          <a:xfrm>
            <a:off x="4673498" y="2743200"/>
            <a:ext cx="28446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required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4710074" y="3154680"/>
            <a:ext cx="282641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dropped on changed code</a:t>
            </a:r>
            <a:endParaRPr lang="en-US" sz="1200" dirty="0"/>
          </a:p>
          <a:p>
            <a:pPr marL="177800" indent="-1778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Medium-severity findings</a:t>
            </a:r>
            <a:endParaRPr lang="en-US" sz="1200" dirty="0"/>
          </a:p>
          <a:p>
            <a:pPr marL="177800" indent="-1778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untested security-sensitive method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8203997" y="1783080"/>
            <a:ext cx="3393338" cy="3383280"/>
          </a:xfrm>
          <a:prstGeom prst="roundRect">
            <a:avLst>
              <a:gd name="adj" fmla="val 2703"/>
            </a:avLst>
          </a:prstGeom>
          <a:solidFill>
            <a:srgbClr val="F6F8FB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203997" y="1783080"/>
            <a:ext cx="3393338" cy="868680"/>
          </a:xfrm>
          <a:prstGeom prst="roundRect">
            <a:avLst>
              <a:gd name="adj" fmla="val 10526"/>
            </a:avLst>
          </a:prstGeom>
          <a:solidFill>
            <a:srgbClr val="DC2626"/>
          </a:solidFill>
          <a:ln/>
        </p:spPr>
      </p:sp>
      <p:sp>
        <p:nvSpPr>
          <p:cNvPr id="20" name="Shape 16"/>
          <p:cNvSpPr/>
          <p:nvPr/>
        </p:nvSpPr>
        <p:spPr>
          <a:xfrm>
            <a:off x="8203997" y="2331720"/>
            <a:ext cx="3393338" cy="320040"/>
          </a:xfrm>
          <a:prstGeom prst="rect">
            <a:avLst/>
          </a:prstGeom>
          <a:solidFill>
            <a:srgbClr val="DC2626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4037" y="2011680"/>
            <a:ext cx="411480" cy="41148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9026957" y="1947672"/>
            <a:ext cx="24789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</a:t>
            </a:r>
            <a:endParaRPr lang="en-US" sz="2100" dirty="0"/>
          </a:p>
        </p:txBody>
      </p:sp>
      <p:sp>
        <p:nvSpPr>
          <p:cNvPr id="23" name="Text 18"/>
          <p:cNvSpPr/>
          <p:nvPr/>
        </p:nvSpPr>
        <p:spPr>
          <a:xfrm>
            <a:off x="8478317" y="2743200"/>
            <a:ext cx="28446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fix before merge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8514893" y="3154680"/>
            <a:ext cx="282641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Hardcoded secret / critical CVE</a:t>
            </a:r>
            <a:endParaRPr lang="en-US" sz="1200" dirty="0"/>
          </a:p>
          <a:p>
            <a:pPr marL="177800" indent="-1778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Irreversible destructive migration</a:t>
            </a:r>
            <a:endParaRPr lang="en-US" sz="1200" dirty="0"/>
          </a:p>
          <a:p>
            <a:pPr marL="177800" indent="-1778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public API with consumers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594360" y="5532120"/>
            <a:ext cx="110029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Most-restrictive-wins policy</a:t>
            </a:r>
            <a:pPr algn="ctr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every decision logged with a request ID  ·  RBAC override  ·  mark findings </a:t>
            </a:r>
            <a:pPr algn="ctr"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/ false-positive</a:t>
            </a:r>
            <a:pPr algn="ctr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train the gate over time.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566928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Beyond SonarQube &amp; Veracode</a:t>
            </a:r>
            <a:endParaRPr lang="en-US" sz="3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783080"/>
          <a:ext cx="11002975" cy="914400"/>
        </p:xfrm>
        <a:graphic>
          <a:graphicData uri="http://schemas.openxmlformats.org/drawingml/2006/table">
            <a:tbl>
              <a:tblPr/>
              <a:tblGrid>
                <a:gridCol w="6583680"/>
                <a:gridCol w="2194560"/>
                <a:gridCol w="21945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Capability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Traditional SAST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CIAA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Code-pattern &amp; security findings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76200" marT="38100" marB="381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</a:rPr>
                        <a:t>●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</a:rPr>
                        <a:t>●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Diff-native — understands the actual change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76200" marT="38100" marB="381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97706"/>
                          </a:solidFill>
                        </a:rPr>
                        <a:t>◐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</a:rPr>
                        <a:t>●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Cross-repo blast radius &amp; downstream consumers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76200" marT="38100" marB="381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</a:rPr>
                        <a:t>●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 &amp; serialization impact (DTO / JSON)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76200" marT="38100" marB="381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</a:rPr>
                        <a:t>●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adequacy for the changed code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76200" marT="38100" marB="381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</a:rPr>
                        <a:t>●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 merge gate with evidence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76200" marT="38100" marB="381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</a:rPr>
                        <a:t>●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Reviewer feedback loop (learns false positives)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76200" marT="38100" marB="381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</a:rPr>
                        <a:t>●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 / self-hosted LLM (Bitbucket Server)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76200" marT="38100" marB="381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97706"/>
                          </a:solidFill>
                        </a:rPr>
                        <a:t>◐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</a:rPr>
                        <a:t>●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94360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full   </a:t>
            </a:r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partial   </a:t>
            </a:r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not covered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ENTERPRISE-GRADE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77724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Production-ready, on-premises, and trustworthy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691640"/>
            <a:ext cx="2510714" cy="1371600"/>
          </a:xfrm>
          <a:prstGeom prst="roundRect">
            <a:avLst>
              <a:gd name="adj" fmla="val 6667"/>
            </a:avLst>
          </a:prstGeom>
          <a:solidFill>
            <a:srgbClr val="16243F"/>
          </a:solidFill>
          <a:ln w="12700">
            <a:solidFill>
              <a:srgbClr val="2A3D6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783080"/>
            <a:ext cx="251071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DD4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20+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85800" y="2487168"/>
            <a:ext cx="23278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 agents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25114" y="1691640"/>
            <a:ext cx="2510714" cy="1371600"/>
          </a:xfrm>
          <a:prstGeom prst="roundRect">
            <a:avLst>
              <a:gd name="adj" fmla="val 6667"/>
            </a:avLst>
          </a:prstGeom>
          <a:solidFill>
            <a:srgbClr val="16243F"/>
          </a:solidFill>
          <a:ln w="12700">
            <a:solidFill>
              <a:srgbClr val="2A3D6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5114" y="1783080"/>
            <a:ext cx="251071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DD4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538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516554" y="2487168"/>
            <a:ext cx="23278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55868" y="1691640"/>
            <a:ext cx="2510714" cy="1371600"/>
          </a:xfrm>
          <a:prstGeom prst="roundRect">
            <a:avLst>
              <a:gd name="adj" fmla="val 6667"/>
            </a:avLst>
          </a:prstGeom>
          <a:solidFill>
            <a:srgbClr val="16243F"/>
          </a:solidFill>
          <a:ln w="12700">
            <a:solidFill>
              <a:srgbClr val="2A3D6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55868" y="1783080"/>
            <a:ext cx="251071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DD4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347308" y="2487168"/>
            <a:ext cx="23278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— deterministic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86621" y="1691640"/>
            <a:ext cx="2510714" cy="1371600"/>
          </a:xfrm>
          <a:prstGeom prst="roundRect">
            <a:avLst>
              <a:gd name="adj" fmla="val 6667"/>
            </a:avLst>
          </a:prstGeom>
          <a:solidFill>
            <a:srgbClr val="16243F"/>
          </a:solidFill>
          <a:ln w="12700">
            <a:solidFill>
              <a:srgbClr val="2A3D6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86621" y="1783080"/>
            <a:ext cx="251071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DD4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178061" y="2487168"/>
            <a:ext cx="23278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providers supported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4360" y="3429000"/>
            <a:ext cx="548640" cy="548640"/>
          </a:xfrm>
          <a:prstGeom prst="ellipse">
            <a:avLst/>
          </a:prstGeom>
          <a:solidFill>
            <a:srgbClr val="1E2C4A"/>
          </a:solidFill>
          <a:ln/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493" y="3577133"/>
            <a:ext cx="252374" cy="252374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1325880" y="3392424"/>
            <a:ext cx="449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Access &amp; audit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325880" y="3758184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AAB7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+ API keys, structured audit log, HMAC-verified webhooks.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278728" y="3429000"/>
            <a:ext cx="548640" cy="548640"/>
          </a:xfrm>
          <a:prstGeom prst="ellipse">
            <a:avLst/>
          </a:prstGeom>
          <a:solidFill>
            <a:srgbClr val="1E2C4A"/>
          </a:solidFill>
          <a:ln/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6860" y="3577133"/>
            <a:ext cx="252374" cy="252374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7010248" y="3392424"/>
            <a:ext cx="449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Resilience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7010248" y="3758184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AAB7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 control, LLM concurrency limiter, circuit breakers, sanitized errors.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594360" y="4754880"/>
            <a:ext cx="548640" cy="548640"/>
          </a:xfrm>
          <a:prstGeom prst="ellipse">
            <a:avLst/>
          </a:prstGeom>
          <a:solidFill>
            <a:srgbClr val="1E2C4A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493" y="4903013"/>
            <a:ext cx="252374" cy="252374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1325880" y="4718304"/>
            <a:ext cx="449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Operations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1325880" y="5084064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AAB7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/ readiness probes, rate limiting, Prometheus metrics, Docker.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6278728" y="4754880"/>
            <a:ext cx="548640" cy="548640"/>
          </a:xfrm>
          <a:prstGeom prst="ellipse">
            <a:avLst/>
          </a:prstGeom>
          <a:solidFill>
            <a:srgbClr val="1E2C4A"/>
          </a:solidFill>
          <a:ln/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6860" y="4903013"/>
            <a:ext cx="252374" cy="252374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7010248" y="4718304"/>
            <a:ext cx="449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Quality assurance</a:t>
            </a:r>
            <a:endParaRPr lang="en-US" sz="1500" dirty="0"/>
          </a:p>
        </p:txBody>
      </p:sp>
      <p:sp>
        <p:nvSpPr>
          <p:cNvPr id="31" name="Text 25"/>
          <p:cNvSpPr/>
          <p:nvPr/>
        </p:nvSpPr>
        <p:spPr>
          <a:xfrm>
            <a:off x="7010248" y="5084064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AAB7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 panel scores every agent; a golden-case quality gate fails CI on any detection regression.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566928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Tools &amp; technologies — and what each does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572768"/>
            <a:ext cx="5318608" cy="1554480"/>
          </a:xfrm>
          <a:prstGeom prst="roundRect">
            <a:avLst>
              <a:gd name="adj" fmla="val 4706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572768"/>
            <a:ext cx="64008" cy="155448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6" name="Shape 4"/>
          <p:cNvSpPr/>
          <p:nvPr/>
        </p:nvSpPr>
        <p:spPr>
          <a:xfrm>
            <a:off x="795528" y="1773936"/>
            <a:ext cx="457200" cy="457200"/>
          </a:xfrm>
          <a:prstGeom prst="ellipse">
            <a:avLst/>
          </a:prstGeom>
          <a:solidFill>
            <a:srgbClr val="38BDF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897380"/>
            <a:ext cx="210312" cy="2103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1773936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Backend &amp; API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32104" y="2286000"/>
            <a:ext cx="4861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3.13 · FastAPI  </a:t>
            </a:r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async REST API &amp; analysis pipeline</a:t>
            </a:r>
            <a:endParaRPr lang="en-US" sz="1050" dirty="0"/>
          </a:p>
          <a:p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v2 + settings  </a:t>
            </a:r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typed models &amp; env-driven config</a:t>
            </a:r>
            <a:endParaRPr lang="en-US" sz="1050" dirty="0"/>
          </a:p>
          <a:p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Uvicorn / Gunicorn  </a:t>
            </a:r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production ASGI app server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78728" y="1572768"/>
            <a:ext cx="5318608" cy="1554480"/>
          </a:xfrm>
          <a:prstGeom prst="roundRect">
            <a:avLst>
              <a:gd name="adj" fmla="val 4706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278728" y="1572768"/>
            <a:ext cx="64008" cy="155448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12" name="Shape 9"/>
          <p:cNvSpPr/>
          <p:nvPr/>
        </p:nvSpPr>
        <p:spPr>
          <a:xfrm>
            <a:off x="6479896" y="1773936"/>
            <a:ext cx="457200" cy="457200"/>
          </a:xfrm>
          <a:prstGeom prst="ellipse">
            <a:avLst/>
          </a:prstGeom>
          <a:solidFill>
            <a:srgbClr val="2DD4B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340" y="1897380"/>
            <a:ext cx="210312" cy="21031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055968" y="1773936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&amp; orchestration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6516472" y="2286000"/>
            <a:ext cx="4861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· OpenAI · Azure · Ollama  </a:t>
            </a:r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pluggable LLMs via one client</a:t>
            </a:r>
            <a:endParaRPr lang="en-US" sz="1050" dirty="0"/>
          </a:p>
          <a:p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agent prompts @ temp 0  </a:t>
            </a:r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deterministic security &amp; impact analysis</a:t>
            </a:r>
            <a:endParaRPr lang="en-US" sz="1050" dirty="0"/>
          </a:p>
          <a:p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(optional)  </a:t>
            </a:r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graph-based agent pipeline + tracing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94360" y="3291840"/>
            <a:ext cx="5318608" cy="1554480"/>
          </a:xfrm>
          <a:prstGeom prst="roundRect">
            <a:avLst>
              <a:gd name="adj" fmla="val 4706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94360" y="3291840"/>
            <a:ext cx="64008" cy="15544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8" name="Shape 14"/>
          <p:cNvSpPr/>
          <p:nvPr/>
        </p:nvSpPr>
        <p:spPr>
          <a:xfrm>
            <a:off x="795528" y="3493008"/>
            <a:ext cx="457200" cy="457200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" y="3616452"/>
            <a:ext cx="210312" cy="21031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371600" y="3493008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Impact &amp; dependency graph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832104" y="4005072"/>
            <a:ext cx="4861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NetworkX  </a:t>
            </a:r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in-process blast-radius &amp; reference graph</a:t>
            </a:r>
            <a:endParaRPr lang="en-US" sz="1050" dirty="0"/>
          </a:p>
          <a:p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Neo4j (optional)  </a:t>
            </a:r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persistent, org-wide service graph</a:t>
            </a:r>
            <a:endParaRPr lang="en-US" sz="1050" dirty="0"/>
          </a:p>
          <a:p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clone + ripgrep  </a:t>
            </a:r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cross-repo call-site tracing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6278728" y="3291840"/>
            <a:ext cx="5318608" cy="1554480"/>
          </a:xfrm>
          <a:prstGeom prst="roundRect">
            <a:avLst>
              <a:gd name="adj" fmla="val 4706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278728" y="3291840"/>
            <a:ext cx="64008" cy="155448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4" name="Shape 19"/>
          <p:cNvSpPr/>
          <p:nvPr/>
        </p:nvSpPr>
        <p:spPr>
          <a:xfrm>
            <a:off x="6479896" y="3493008"/>
            <a:ext cx="457200" cy="4572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3340" y="3616452"/>
            <a:ext cx="210312" cy="21031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055968" y="3493008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Security &amp; SCA</a:t>
            </a:r>
            <a:endParaRPr lang="en-US" sz="1450" dirty="0"/>
          </a:p>
        </p:txBody>
      </p:sp>
      <p:sp>
        <p:nvSpPr>
          <p:cNvPr id="27" name="Text 21"/>
          <p:cNvSpPr/>
          <p:nvPr/>
        </p:nvSpPr>
        <p:spPr>
          <a:xfrm>
            <a:off x="6516472" y="4005072"/>
            <a:ext cx="4861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OSV.dev API  </a:t>
            </a:r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known-CVE lookup for dependencies</a:t>
            </a:r>
            <a:endParaRPr lang="en-US" sz="1050" dirty="0"/>
          </a:p>
          <a:p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tree-sitter AST · taint · entropy  </a:t>
            </a:r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precise 6-language parsing &amp; detection</a:t>
            </a:r>
            <a:endParaRPr lang="en-US" sz="1050" dirty="0"/>
          </a:p>
          <a:p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 pom.xml parser  </a:t>
            </a:r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direct-dependency vulnerability scan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594360" y="5010912"/>
            <a:ext cx="5318608" cy="1554480"/>
          </a:xfrm>
          <a:prstGeom prst="roundRect">
            <a:avLst>
              <a:gd name="adj" fmla="val 4706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594360" y="5010912"/>
            <a:ext cx="64008" cy="155448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0" name="Shape 24"/>
          <p:cNvSpPr/>
          <p:nvPr/>
        </p:nvSpPr>
        <p:spPr>
          <a:xfrm>
            <a:off x="795528" y="521208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" y="5335524"/>
            <a:ext cx="210312" cy="210312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1371600" y="5212080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Frontend &amp; visualization</a:t>
            </a:r>
            <a:endParaRPr lang="en-US" sz="1450" dirty="0"/>
          </a:p>
        </p:txBody>
      </p:sp>
      <p:sp>
        <p:nvSpPr>
          <p:cNvPr id="33" name="Text 26"/>
          <p:cNvSpPr/>
          <p:nvPr/>
        </p:nvSpPr>
        <p:spPr>
          <a:xfrm>
            <a:off x="832104" y="5724144"/>
            <a:ext cx="4861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+ Vite  </a:t>
            </a:r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reviewer dashboard &amp; persona views</a:t>
            </a:r>
            <a:endParaRPr lang="en-US" sz="1050" dirty="0"/>
          </a:p>
          <a:p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D3.js  </a:t>
            </a:r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layered / force call-graph rendering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6278728" y="5010912"/>
            <a:ext cx="5318608" cy="1554480"/>
          </a:xfrm>
          <a:prstGeom prst="roundRect">
            <a:avLst>
              <a:gd name="adj" fmla="val 4706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6278728" y="5010912"/>
            <a:ext cx="64008" cy="155448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6" name="Shape 29"/>
          <p:cNvSpPr/>
          <p:nvPr/>
        </p:nvSpPr>
        <p:spPr>
          <a:xfrm>
            <a:off x="6479896" y="5212080"/>
            <a:ext cx="457200" cy="457200"/>
          </a:xfrm>
          <a:prstGeom prst="ellipse">
            <a:avLst/>
          </a:prstGeom>
          <a:solidFill>
            <a:srgbClr val="16A34A"/>
          </a:solidFill>
          <a:ln/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3340" y="5335524"/>
            <a:ext cx="210312" cy="210312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7055968" y="5212080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Data, reliability &amp; ops</a:t>
            </a:r>
            <a:endParaRPr lang="en-US" sz="1450" dirty="0"/>
          </a:p>
        </p:txBody>
      </p:sp>
      <p:sp>
        <p:nvSpPr>
          <p:cNvPr id="39" name="Text 31"/>
          <p:cNvSpPr/>
          <p:nvPr/>
        </p:nvSpPr>
        <p:spPr>
          <a:xfrm>
            <a:off x="6516472" y="5724144"/>
            <a:ext cx="4861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· Redis · ChromaDB  </a:t>
            </a:r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report store · cache · semantic search</a:t>
            </a:r>
            <a:endParaRPr lang="en-US" sz="1050" dirty="0"/>
          </a:p>
          <a:p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tenacity · OpenTelemetry · Prometheus  </a:t>
            </a:r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retries · tracing · metrics</a:t>
            </a:r>
            <a:endParaRPr lang="en-US" sz="1050" dirty="0"/>
          </a:p>
          <a:p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· OpenShift · pytest  </a:t>
            </a:r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containers · deploy · 538 tests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566928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CIAA goes next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1261872"/>
            <a:ext cx="1100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quality is production-grade today — the roadmap scales it to an organisation-wide platform.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94360" y="1828800"/>
            <a:ext cx="2510714" cy="3977640"/>
          </a:xfrm>
          <a:prstGeom prst="roundRect">
            <a:avLst>
              <a:gd name="adj" fmla="val 3278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828800"/>
            <a:ext cx="2510714" cy="9144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2103120"/>
            <a:ext cx="512064" cy="512064"/>
          </a:xfrm>
          <a:prstGeom prst="ellipse">
            <a:avLst/>
          </a:prstGeom>
          <a:solidFill>
            <a:srgbClr val="38BDF8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073" y="2241377"/>
            <a:ext cx="235549" cy="23554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63040" y="2103120"/>
            <a:ext cx="1504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1463040" y="2331720"/>
            <a:ext cx="15048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Scale-out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32104" y="2852928"/>
            <a:ext cx="205351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Redis-backed job queue + autoscaling analysis workers</a:t>
            </a:r>
            <a:endParaRPr lang="en-US" sz="1050" dirty="0"/>
          </a:p>
          <a:p>
            <a:pPr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report store (replaces SQLite)</a:t>
            </a:r>
            <a:endParaRPr lang="en-US" sz="1050" dirty="0"/>
          </a:p>
          <a:p>
            <a:pPr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Cluster-wide rate &amp; LLM concurrency limits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32104" y="5093208"/>
            <a:ext cx="203522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32104" y="5184648"/>
            <a:ext cx="205351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teams, many PRs, zero queue contention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3086786" y="35433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D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3425114" y="1828800"/>
            <a:ext cx="2510714" cy="3977640"/>
          </a:xfrm>
          <a:prstGeom prst="roundRect">
            <a:avLst>
              <a:gd name="adj" fmla="val 3278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425114" y="1828800"/>
            <a:ext cx="2510714" cy="914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7" name="Shape 14"/>
          <p:cNvSpPr/>
          <p:nvPr/>
        </p:nvSpPr>
        <p:spPr>
          <a:xfrm>
            <a:off x="3644570" y="2103120"/>
            <a:ext cx="512064" cy="512064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2827" y="2241377"/>
            <a:ext cx="235549" cy="235549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293794" y="2103120"/>
            <a:ext cx="1504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4293794" y="2331720"/>
            <a:ext cx="15048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Enterprise access</a:t>
            </a:r>
            <a:endParaRPr lang="en-US" sz="1500" dirty="0"/>
          </a:p>
        </p:txBody>
      </p:sp>
      <p:sp>
        <p:nvSpPr>
          <p:cNvPr id="21" name="Text 17"/>
          <p:cNvSpPr/>
          <p:nvPr/>
        </p:nvSpPr>
        <p:spPr>
          <a:xfrm>
            <a:off x="3662858" y="2852928"/>
            <a:ext cx="205351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 / OIDC login with team-scoped RBAC</a:t>
            </a:r>
            <a:endParaRPr lang="en-US" sz="1050" dirty="0"/>
          </a:p>
          <a:p>
            <a:pPr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Vault / KMS secret management</a:t>
            </a:r>
            <a:endParaRPr lang="en-US" sz="1050" dirty="0"/>
          </a:p>
          <a:p>
            <a:pPr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SARIF export + required PR status checks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3662858" y="5093208"/>
            <a:ext cx="203522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3662858" y="5184648"/>
            <a:ext cx="205351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 merge gate, org-grade security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5917540" y="35433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D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200" dirty="0"/>
          </a:p>
        </p:txBody>
      </p:sp>
      <p:sp>
        <p:nvSpPr>
          <p:cNvPr id="25" name="Shape 21"/>
          <p:cNvSpPr/>
          <p:nvPr/>
        </p:nvSpPr>
        <p:spPr>
          <a:xfrm>
            <a:off x="6255868" y="1828800"/>
            <a:ext cx="2510714" cy="3977640"/>
          </a:xfrm>
          <a:prstGeom prst="roundRect">
            <a:avLst>
              <a:gd name="adj" fmla="val 3278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255868" y="1828800"/>
            <a:ext cx="2510714" cy="9144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27" name="Shape 23"/>
          <p:cNvSpPr/>
          <p:nvPr/>
        </p:nvSpPr>
        <p:spPr>
          <a:xfrm>
            <a:off x="6475324" y="2103120"/>
            <a:ext cx="512064" cy="512064"/>
          </a:xfrm>
          <a:prstGeom prst="ellipse">
            <a:avLst/>
          </a:prstGeom>
          <a:solidFill>
            <a:srgbClr val="2DD4BF"/>
          </a:solidFill>
          <a:ln/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3581" y="2241377"/>
            <a:ext cx="235549" cy="235549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7124548" y="2103120"/>
            <a:ext cx="1504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950" dirty="0"/>
          </a:p>
        </p:txBody>
      </p:sp>
      <p:sp>
        <p:nvSpPr>
          <p:cNvPr id="30" name="Text 25"/>
          <p:cNvSpPr/>
          <p:nvPr/>
        </p:nvSpPr>
        <p:spPr>
          <a:xfrm>
            <a:off x="7124548" y="2331720"/>
            <a:ext cx="15048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Deeper detection</a:t>
            </a:r>
            <a:endParaRPr lang="en-US" sz="1500" dirty="0"/>
          </a:p>
        </p:txBody>
      </p:sp>
      <p:sp>
        <p:nvSpPr>
          <p:cNvPr id="31" name="Text 26"/>
          <p:cNvSpPr/>
          <p:nvPr/>
        </p:nvSpPr>
        <p:spPr>
          <a:xfrm>
            <a:off x="6493612" y="2852928"/>
            <a:ext cx="205351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Transitive SCA (full dependency tree CVEs)</a:t>
            </a:r>
            <a:endParaRPr lang="en-US" sz="1050" dirty="0"/>
          </a:p>
          <a:p>
            <a:pPr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Compiler-index (LSIF/SCIP) cross-repo references</a:t>
            </a:r>
            <a:endParaRPr lang="en-US" sz="1050" dirty="0"/>
          </a:p>
          <a:p>
            <a:pPr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corpus grown from real reviewed PRs</a:t>
            </a:r>
            <a:endParaRPr lang="en-US" sz="1050" dirty="0"/>
          </a:p>
        </p:txBody>
      </p:sp>
      <p:sp>
        <p:nvSpPr>
          <p:cNvPr id="32" name="Shape 27"/>
          <p:cNvSpPr/>
          <p:nvPr/>
        </p:nvSpPr>
        <p:spPr>
          <a:xfrm>
            <a:off x="6493612" y="5093208"/>
            <a:ext cx="203522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493612" y="5184648"/>
            <a:ext cx="205351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recall with measured precision</a:t>
            </a:r>
            <a:endParaRPr lang="en-US" sz="950" dirty="0"/>
          </a:p>
        </p:txBody>
      </p:sp>
      <p:sp>
        <p:nvSpPr>
          <p:cNvPr id="34" name="Text 29"/>
          <p:cNvSpPr/>
          <p:nvPr/>
        </p:nvSpPr>
        <p:spPr>
          <a:xfrm>
            <a:off x="8748293" y="35433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D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200" dirty="0"/>
          </a:p>
        </p:txBody>
      </p:sp>
      <p:sp>
        <p:nvSpPr>
          <p:cNvPr id="35" name="Shape 30"/>
          <p:cNvSpPr/>
          <p:nvPr/>
        </p:nvSpPr>
        <p:spPr>
          <a:xfrm>
            <a:off x="9086621" y="1828800"/>
            <a:ext cx="2510714" cy="3977640"/>
          </a:xfrm>
          <a:prstGeom prst="roundRect">
            <a:avLst>
              <a:gd name="adj" fmla="val 3278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9086621" y="1828800"/>
            <a:ext cx="2510714" cy="9144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7" name="Shape 32"/>
          <p:cNvSpPr/>
          <p:nvPr/>
        </p:nvSpPr>
        <p:spPr>
          <a:xfrm>
            <a:off x="9306077" y="2103120"/>
            <a:ext cx="512064" cy="512064"/>
          </a:xfrm>
          <a:prstGeom prst="ellipse">
            <a:avLst/>
          </a:prstGeom>
          <a:solidFill>
            <a:srgbClr val="16A34A"/>
          </a:solidFill>
          <a:ln/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4335" y="2241377"/>
            <a:ext cx="235549" cy="235549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9955301" y="2103120"/>
            <a:ext cx="1504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950" dirty="0"/>
          </a:p>
        </p:txBody>
      </p:sp>
      <p:sp>
        <p:nvSpPr>
          <p:cNvPr id="40" name="Text 34"/>
          <p:cNvSpPr/>
          <p:nvPr/>
        </p:nvSpPr>
        <p:spPr>
          <a:xfrm>
            <a:off x="9955301" y="2331720"/>
            <a:ext cx="15048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Operate at scale</a:t>
            </a:r>
            <a:endParaRPr lang="en-US" sz="1500" dirty="0"/>
          </a:p>
        </p:txBody>
      </p:sp>
      <p:sp>
        <p:nvSpPr>
          <p:cNvPr id="41" name="Text 35"/>
          <p:cNvSpPr/>
          <p:nvPr/>
        </p:nvSpPr>
        <p:spPr>
          <a:xfrm>
            <a:off x="9324365" y="2852928"/>
            <a:ext cx="205351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Policy-as-code gate thresholds (OPA), per team</a:t>
            </a:r>
            <a:endParaRPr lang="en-US" sz="1050" dirty="0"/>
          </a:p>
          <a:p>
            <a:pPr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SLOs, alerting &amp; cost dashboards</a:t>
            </a:r>
            <a:endParaRPr lang="en-US" sz="1050" dirty="0"/>
          </a:p>
          <a:p>
            <a:pPr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Helm + canary deploys, load &amp; chaos testing</a:t>
            </a:r>
            <a:endParaRPr lang="en-US" sz="1050" dirty="0"/>
          </a:p>
        </p:txBody>
      </p:sp>
      <p:sp>
        <p:nvSpPr>
          <p:cNvPr id="42" name="Shape 36"/>
          <p:cNvSpPr/>
          <p:nvPr/>
        </p:nvSpPr>
        <p:spPr>
          <a:xfrm>
            <a:off x="9324365" y="5093208"/>
            <a:ext cx="203522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9324365" y="5184648"/>
            <a:ext cx="205351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like any tier-1 internal platform</a:t>
            </a:r>
            <a:endParaRPr lang="en-US" sz="950" dirty="0"/>
          </a:p>
        </p:txBody>
      </p:sp>
      <p:sp>
        <p:nvSpPr>
          <p:cNvPr id="44" name="Text 38"/>
          <p:cNvSpPr/>
          <p:nvPr/>
        </p:nvSpPr>
        <p:spPr>
          <a:xfrm>
            <a:off x="594360" y="598932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shipped: </a:t>
            </a:r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tree-sitter ASTs · cross-agent correlation &amp; Top Issues · CI quality gate · function-context prompts · confidence-weighted gate · warm repo mirror · LLM concurrency control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· TASK LIST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566928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Planned tasks</a:t>
            </a:r>
            <a:endParaRPr lang="en-US" sz="3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81328"/>
          <a:ext cx="11002975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200400"/>
                <a:gridCol w="5513832"/>
                <a:gridCol w="182880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#</a:t>
                      </a:r>
                      <a:endParaRPr lang="en-US" sz="12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Roadmap task</a:t>
                      </a:r>
                      <a:endParaRPr lang="en-US" sz="12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What it delivers</a:t>
                      </a:r>
                      <a:endParaRPr lang="en-US" sz="12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Theme</a:t>
                      </a:r>
                      <a:endParaRPr lang="en-US" sz="12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3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FSD tracking &amp; code-vs-spec validation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each PR to its Functional Specification Document; flag changes that contradict or miss the spec (builds on today's functional-doc upload)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366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Functional intelligence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Functional impact analysis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Combine FSD + code change + dependent repos to report which business functions are affected and where to regression-test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366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Functional intelligence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 queue + autoscaling workers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Redis-backed analysis queue; API stays responsive under many concurrent PRs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report store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 SQLite for multi-instance deployments, retention policies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Cluster-wide rate &amp; LLM limits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Redis counters so limits hold across replicas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SSO / OIDC with team RBAC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IdP login, team-scoped data, per-team gate thresholds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Vault / KMS secret management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provider keys on disk; automatic rotation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SARIF export + PR status checks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into code-scanning dashboards; gate enforced as a required check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Transitive SCA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dependency-tree CVE scan (mvn dependency:tree / lockfiles)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DD4B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Compiler-index cross-repo refs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LSIF/SCIP for exact call-site resolution beyond grep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DD4B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Golden corpus from real PRs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 the CI quality gate with anonymised production diffs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DD4B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OPA gate policies · SLO dashboards · Helm/canary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Policy-as-code per team, Grafana SLOs, progressive deploys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E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2057400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Catch production issues before they merge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371600" y="3246120"/>
            <a:ext cx="94484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CIAA turns every Pull Request into a deep, consistent, evidence-backed review —</a:t>
            </a:r>
            <a:endParaRPr lang="en-US" sz="15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 real impact analysis with a deterministic merge gate, at PR scale.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264512" y="4526280"/>
            <a:ext cx="1865376" cy="457200"/>
          </a:xfrm>
          <a:prstGeom prst="roundRect">
            <a:avLst>
              <a:gd name="adj" fmla="val 50000"/>
            </a:avLst>
          </a:prstGeom>
          <a:solidFill>
            <a:srgbClr val="16243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64512" y="452628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PR Review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58488" y="4526280"/>
            <a:ext cx="2468880" cy="457200"/>
          </a:xfrm>
          <a:prstGeom prst="roundRect">
            <a:avLst>
              <a:gd name="adj" fmla="val 50000"/>
            </a:avLst>
          </a:prstGeom>
          <a:solidFill>
            <a:srgbClr val="16243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58488" y="45262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Impact Analysis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055968" y="4526280"/>
            <a:ext cx="2871216" cy="457200"/>
          </a:xfrm>
          <a:prstGeom prst="roundRect">
            <a:avLst>
              <a:gd name="adj" fmla="val 50000"/>
            </a:avLst>
          </a:prstGeom>
          <a:solidFill>
            <a:srgbClr val="16243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55968" y="4526280"/>
            <a:ext cx="28712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Governance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CIAA — Code Impact &amp; Analysis Agent</dc:title>
  <dc:subject>PptxGenJS Presentation</dc:subject>
  <dc:creator>CIAA</dc:creator>
  <cp:lastModifiedBy>CIAA</cp:lastModifiedBy>
  <cp:revision>1</cp:revision>
  <dcterms:created xsi:type="dcterms:W3CDTF">2026-06-11T09:39:58Z</dcterms:created>
  <dcterms:modified xsi:type="dcterms:W3CDTF">2026-06-11T09:39:58Z</dcterms:modified>
</cp:coreProperties>
</file>