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40080"/>
            <a:ext cx="146304" cy="146304"/>
          </a:xfrm>
          <a:prstGeom prst="ellipse">
            <a:avLst/>
          </a:prstGeom>
          <a:solidFill>
            <a:srgbClr val="2DD4BF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59568" y="640080"/>
            <a:ext cx="146304" cy="146304"/>
          </a:xfrm>
          <a:prstGeom prst="ellipse">
            <a:avLst/>
          </a:prstGeom>
          <a:solidFill>
            <a:srgbClr val="2DD4BF">
              <a:alpha val="6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26496" y="640080"/>
            <a:ext cx="146304" cy="146304"/>
          </a:xfrm>
          <a:prstGeom prst="ellipse">
            <a:avLst/>
          </a:prstGeom>
          <a:solidFill>
            <a:srgbClr val="2DD4BF">
              <a:alpha val="5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692640" y="1207008"/>
            <a:ext cx="146304" cy="146304"/>
          </a:xfrm>
          <a:prstGeom prst="ellipse">
            <a:avLst/>
          </a:prstGeom>
          <a:solidFill>
            <a:srgbClr val="2DD4BF">
              <a:alpha val="4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259568" y="1207008"/>
            <a:ext cx="146304" cy="146304"/>
          </a:xfrm>
          <a:prstGeom prst="ellipse">
            <a:avLst/>
          </a:prstGeom>
          <a:solidFill>
            <a:srgbClr val="2DD4BF">
              <a:alpha val="3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26496" y="1207008"/>
            <a:ext cx="146304" cy="146304"/>
          </a:xfrm>
          <a:prstGeom prst="ellipse">
            <a:avLst/>
          </a:prstGeom>
          <a:solidFill>
            <a:srgbClr val="2DD4B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CODE GOVERNANCE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874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CIAA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594360" y="2880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Impact &amp; Analysis Agent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multi-agent framework for Pull-Request review and code-impact analysis —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catch production issues before they merge.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94360" y="5074920"/>
            <a:ext cx="2059229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5074920"/>
            <a:ext cx="205922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specialist agents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854757" y="5074920"/>
            <a:ext cx="2311603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54757" y="5074920"/>
            <a:ext cx="23116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merge gate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67528" y="5074920"/>
            <a:ext cx="2059229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7528" y="5074920"/>
            <a:ext cx="205922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LLM ready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27925" y="5074920"/>
            <a:ext cx="2395728" cy="420624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27925" y="507492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Bitbucket Server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Reviews don't scale — scanners miss the impact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924812"/>
            <a:ext cx="210312" cy="21031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10512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61288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 PRs overwhelm reviewers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161288" y="209397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routinely span 50–100+ files. Humans can't reliably trace cross-cutting impact across modules and services.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94360" y="28803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3003804"/>
            <a:ext cx="210312" cy="210312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2889504"/>
            <a:ext cx="384048" cy="38404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61288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SAST is blind to the change</a:t>
            </a:r>
            <a:endParaRPr lang="en-US" sz="1500" dirty="0"/>
          </a:p>
        </p:txBody>
      </p:sp>
      <p:sp>
        <p:nvSpPr>
          <p:cNvPr id="13" name="Text 7"/>
          <p:cNvSpPr/>
          <p:nvPr/>
        </p:nvSpPr>
        <p:spPr>
          <a:xfrm>
            <a:off x="1161288" y="31729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/ Veracode flag code-pattern issues, but not change impact: blast radius, downstream consumers, contract breaks, test adequacy.</a:t>
            </a:r>
            <a:endParaRPr lang="en-US" sz="1150" dirty="0"/>
          </a:p>
        </p:txBody>
      </p:sp>
      <p:sp>
        <p:nvSpPr>
          <p:cNvPr id="14" name="Shape 8"/>
          <p:cNvSpPr/>
          <p:nvPr/>
        </p:nvSpPr>
        <p:spPr>
          <a:xfrm>
            <a:off x="594360" y="395935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4082796"/>
            <a:ext cx="210312" cy="210312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968496"/>
            <a:ext cx="384048" cy="38404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161288" y="389534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deterministic merge decision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1161288" y="42519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are inconsistent and reviewer-dependent — no auditable, repeatable APPROVE / HOLD / BLOCK gate.</a:t>
            </a:r>
            <a:endParaRPr lang="en-US" sz="1150" dirty="0"/>
          </a:p>
        </p:txBody>
      </p:sp>
      <p:sp>
        <p:nvSpPr>
          <p:cNvPr id="19" name="Shape 11"/>
          <p:cNvSpPr/>
          <p:nvPr/>
        </p:nvSpPr>
        <p:spPr>
          <a:xfrm>
            <a:off x="594360" y="503834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5161788"/>
            <a:ext cx="210312" cy="210312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" y="5047488"/>
            <a:ext cx="384048" cy="384048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161288" y="4974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Regressions reach production</a:t>
            </a:r>
            <a:endParaRPr lang="en-US" sz="1500" dirty="0"/>
          </a:p>
        </p:txBody>
      </p:sp>
      <p:sp>
        <p:nvSpPr>
          <p:cNvPr id="23" name="Text 13"/>
          <p:cNvSpPr/>
          <p:nvPr/>
        </p:nvSpPr>
        <p:spPr>
          <a:xfrm>
            <a:off x="1161288" y="533095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API &amp; data-contract changes slip through and surface as incidents after release.</a:t>
            </a:r>
            <a:endParaRPr lang="en-US" sz="1150" dirty="0"/>
          </a:p>
        </p:txBody>
      </p:sp>
      <p:sp>
        <p:nvSpPr>
          <p:cNvPr id="24" name="Shape 14"/>
          <p:cNvSpPr/>
          <p:nvPr/>
        </p:nvSpPr>
        <p:spPr>
          <a:xfrm>
            <a:off x="7040880" y="1783080"/>
            <a:ext cx="4556455" cy="4206240"/>
          </a:xfrm>
          <a:prstGeom prst="roundRect">
            <a:avLst>
              <a:gd name="adj" fmla="val 2174"/>
            </a:avLst>
          </a:prstGeom>
          <a:solidFill>
            <a:srgbClr val="0E1A33"/>
          </a:solidFill>
          <a:ln/>
        </p:spPr>
      </p:sp>
      <p:sp>
        <p:nvSpPr>
          <p:cNvPr id="25" name="Text 15"/>
          <p:cNvSpPr/>
          <p:nvPr/>
        </p:nvSpPr>
        <p:spPr>
          <a:xfrm>
            <a:off x="7406640" y="2057400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100+</a:t>
            </a:r>
            <a:endParaRPr lang="en-US" sz="3000" dirty="0"/>
          </a:p>
        </p:txBody>
      </p:sp>
      <p:sp>
        <p:nvSpPr>
          <p:cNvPr id="26" name="Text 16"/>
          <p:cNvSpPr/>
          <p:nvPr/>
        </p:nvSpPr>
        <p:spPr>
          <a:xfrm>
            <a:off x="7406640" y="262432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in a single PR — beyond human review capacity</a:t>
            </a:r>
            <a:endParaRPr lang="en-US" sz="1200" dirty="0"/>
          </a:p>
        </p:txBody>
      </p:sp>
      <p:sp>
        <p:nvSpPr>
          <p:cNvPr id="27" name="Text 17"/>
          <p:cNvSpPr/>
          <p:nvPr/>
        </p:nvSpPr>
        <p:spPr>
          <a:xfrm>
            <a:off x="7406640" y="3355848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</a:t>
            </a:r>
            <a:endParaRPr lang="en-US" sz="3000" dirty="0"/>
          </a:p>
        </p:txBody>
      </p:sp>
      <p:sp>
        <p:nvSpPr>
          <p:cNvPr id="28" name="Text 18"/>
          <p:cNvSpPr/>
          <p:nvPr/>
        </p:nvSpPr>
        <p:spPr>
          <a:xfrm>
            <a:off x="7406640" y="3922776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cross-repo blast radius &amp; downstream consumers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7406640" y="4654296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</a:t>
            </a:r>
            <a:endParaRPr lang="en-US" sz="3000" dirty="0"/>
          </a:p>
        </p:txBody>
      </p:sp>
      <p:sp>
        <p:nvSpPr>
          <p:cNvPr id="30" name="Text 20"/>
          <p:cNvSpPr/>
          <p:nvPr/>
        </p:nvSpPr>
        <p:spPr>
          <a:xfrm>
            <a:off x="7406640" y="5221224"/>
            <a:ext cx="3824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decisions with no audit trail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multi-agent reviewer that understands the change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48132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specialized AI agents analyze every PR across security, quality, tests, contracts and downstream impact — then a deterministic policy returns one auditable decision.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94360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651760"/>
            <a:ext cx="713232" cy="713232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413" y="2844333"/>
            <a:ext cx="328087" cy="3280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PR Review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60120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code quality, test adequacy, compliance and dependency/CVE scanning on the diff.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3938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95418" y="2651760"/>
            <a:ext cx="713232" cy="713232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991" y="2844333"/>
            <a:ext cx="328087" cy="3280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49698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Impact Analysis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749698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radius, cross-repo references, downstream consumers, and contract / serialization changes.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73517" y="2286000"/>
            <a:ext cx="3423818" cy="3200400"/>
          </a:xfrm>
          <a:prstGeom prst="roundRect">
            <a:avLst>
              <a:gd name="adj" fmla="val 285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584997" y="2651760"/>
            <a:ext cx="713232" cy="713232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7569" y="2844333"/>
            <a:ext cx="328087" cy="3280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39277" y="3611880"/>
            <a:ext cx="2692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Deterministic Governance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8539277" y="4114800"/>
            <a:ext cx="2692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APPROVE / HOLD / BLOCK gate, evidence per finding, and a reviewer feedback loop.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94360" y="580644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GitHub · GitHub Enterprise · Bitbucket Cloud &amp; Server (Data Center)   |   Any LLM: Anthropic · OpenAI · Azure · Ollama · self-hosted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pipeline · four phases · one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286000"/>
            <a:ext cx="1993392" cy="10972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" name="Shape 4"/>
          <p:cNvSpPr/>
          <p:nvPr/>
        </p:nvSpPr>
        <p:spPr>
          <a:xfrm>
            <a:off x="1271016" y="2578608"/>
            <a:ext cx="640080" cy="64008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838" y="2751430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0664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diff, parse hunks, rank changed symbols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87752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2846756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46756" y="2286000"/>
            <a:ext cx="1993392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0"/>
          <p:cNvSpPr/>
          <p:nvPr/>
        </p:nvSpPr>
        <p:spPr>
          <a:xfrm>
            <a:off x="3523412" y="2578608"/>
            <a:ext cx="640080" cy="64008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233" y="2751430"/>
            <a:ext cx="294437" cy="29443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46756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993060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+ Security review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840148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18" name="Shape 14"/>
          <p:cNvSpPr/>
          <p:nvPr/>
        </p:nvSpPr>
        <p:spPr>
          <a:xfrm>
            <a:off x="5099152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99152" y="2286000"/>
            <a:ext cx="1993392" cy="1097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0" name="Shape 16"/>
          <p:cNvSpPr/>
          <p:nvPr/>
        </p:nvSpPr>
        <p:spPr>
          <a:xfrm>
            <a:off x="5775808" y="2578608"/>
            <a:ext cx="640080" cy="64008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629" y="2751430"/>
            <a:ext cx="294437" cy="29443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099152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1b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5245456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scan: AST, taint, secrets, schema, references, performance, privacy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7092544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351547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51547" y="2286000"/>
            <a:ext cx="1993392" cy="1097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7" name="Shape 22"/>
          <p:cNvSpPr/>
          <p:nvPr/>
        </p:nvSpPr>
        <p:spPr>
          <a:xfrm>
            <a:off x="8028203" y="2578608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1025" y="2751430"/>
            <a:ext cx="294437" cy="29443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351547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2–3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7497851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Dependency, tests, interface, risk, remediation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9344939" y="3108960"/>
            <a:ext cx="2590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26"/>
          <p:cNvSpPr/>
          <p:nvPr/>
        </p:nvSpPr>
        <p:spPr>
          <a:xfrm>
            <a:off x="9603943" y="2286000"/>
            <a:ext cx="1993392" cy="2468880"/>
          </a:xfrm>
          <a:prstGeom prst="roundRect">
            <a:avLst>
              <a:gd name="adj" fmla="val 4587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603943" y="2286000"/>
            <a:ext cx="1993392" cy="10972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4" name="Shape 28"/>
          <p:cNvSpPr/>
          <p:nvPr/>
        </p:nvSpPr>
        <p:spPr>
          <a:xfrm>
            <a:off x="10280599" y="2578608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3421" y="2751430"/>
            <a:ext cx="294437" cy="294437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9603943" y="33101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9750247" y="370332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APPROVE / HOLD / BLOCK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594360" y="54406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(temperature 0 — same diff, same verdict)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Evidence-guarded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(findings cite file:line in the diff)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(cross-agent dedupe → ranked Top Issues)     •     </a:t>
            </a:r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(reviewer feedback suppresses repeat false positives)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PULL-REQUEST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Covered in Pull-Request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73152" cy="21214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2020824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168957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review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50392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10, taint / data-flow analysis, hardcoded secrets &amp; entropy, IaC misconfiguration.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3938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3938" y="1783080"/>
            <a:ext cx="73152" cy="21214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9"/>
          <p:cNvSpPr/>
          <p:nvPr/>
        </p:nvSpPr>
        <p:spPr>
          <a:xfrm>
            <a:off x="4621682" y="2020824"/>
            <a:ext cx="548640" cy="54864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15" y="2168957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98338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9970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analysis: dead code, null-dereference risk, type confusion, complexity &amp; maintainability.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3517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73517" y="1783080"/>
            <a:ext cx="73152" cy="21214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1261" y="2020824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94" y="2168957"/>
            <a:ext cx="252374" cy="2523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87917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adequacy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429549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Method-level scenario gaps, repo-aware (existing tests count), hollow-test detection.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4360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4360" y="4270248"/>
            <a:ext cx="73152" cy="21214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hape 19"/>
          <p:cNvSpPr/>
          <p:nvPr/>
        </p:nvSpPr>
        <p:spPr>
          <a:xfrm>
            <a:off x="832104" y="4507992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7" y="4656125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Dependencies &amp; SCA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850392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 CVE lookup, Maven pom.xml direct-dependency scan, vulnerable-version flags.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383938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383938" y="4270248"/>
            <a:ext cx="73152" cy="21214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4621682" y="4507992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815" y="4656125"/>
            <a:ext cx="252374" cy="25237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98338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DB schema safety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4639970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/ irreversible migration detection, rollback SQL, DBA sign-off prompts.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73517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173517" y="4270248"/>
            <a:ext cx="73152" cy="212140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1261" y="4507992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394" y="4656125"/>
            <a:ext cx="252374" cy="25237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087917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mapping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8429549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 mapped to OWASP, PCI-DSS 4.0 and CWE Top 25 — with code evidence.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Covered in Impact Analysis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73152" cy="212140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Shape 4"/>
          <p:cNvSpPr/>
          <p:nvPr/>
        </p:nvSpPr>
        <p:spPr>
          <a:xfrm>
            <a:off x="832104" y="2020824"/>
            <a:ext cx="548640" cy="54864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0237" y="2168957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50392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(NetworkX / Neo4j) or derived from real signals — scored 0–100 with a breakdown.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3938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3938" y="1783080"/>
            <a:ext cx="73152" cy="212140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9"/>
          <p:cNvSpPr/>
          <p:nvPr/>
        </p:nvSpPr>
        <p:spPr>
          <a:xfrm>
            <a:off x="4621682" y="2020824"/>
            <a:ext cx="548640" cy="54864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815" y="2168957"/>
            <a:ext cx="252374" cy="25237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98338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Cross-repo references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639970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call-sites in dependent repos: warm mirror → provider code search → shallow clone + grep.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73517" y="1783080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73517" y="1783080"/>
            <a:ext cx="73152" cy="21214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1261" y="2020824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9394" y="2168957"/>
            <a:ext cx="252374" cy="25237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87917" y="2020824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Downstream consumers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429549" y="2715768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call-sites a breaking change will break, each with its likely runtime failure mode.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594360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4360" y="4270248"/>
            <a:ext cx="73152" cy="21214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4" name="Shape 19"/>
          <p:cNvSpPr/>
          <p:nvPr/>
        </p:nvSpPr>
        <p:spPr>
          <a:xfrm>
            <a:off x="832104" y="4507992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237" y="4656125"/>
            <a:ext cx="252374" cy="25237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Interface &amp; contracts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850392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(removed / renamed / retyped) + additive data-model fields + serialization config.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383938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383938" y="4270248"/>
            <a:ext cx="73152" cy="21214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Shape 24"/>
          <p:cNvSpPr/>
          <p:nvPr/>
        </p:nvSpPr>
        <p:spPr>
          <a:xfrm>
            <a:off x="4621682" y="4507992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815" y="4656125"/>
            <a:ext cx="252374" cy="25237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298338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 / reference graph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4639970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and force views, folder grouping and focus-on-hover to read large graphs clearly.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173517" y="4270248"/>
            <a:ext cx="3423818" cy="2121408"/>
          </a:xfrm>
          <a:prstGeom prst="roundRect">
            <a:avLst>
              <a:gd name="adj" fmla="val 3879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E1A33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173517" y="4270248"/>
            <a:ext cx="73152" cy="21214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6" name="Shape 29"/>
          <p:cNvSpPr/>
          <p:nvPr/>
        </p:nvSpPr>
        <p:spPr>
          <a:xfrm>
            <a:off x="8411261" y="4507992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9394" y="4656125"/>
            <a:ext cx="252374" cy="25237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087917" y="4507992"/>
            <a:ext cx="23265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mapping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8429549" y="5202936"/>
            <a:ext cx="291175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changed files to the owning business capabilities and teams to loop into the review.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&amp; TERMINOLOGY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analysis techniques, in plain English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72768"/>
            <a:ext cx="64008" cy="10241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813816" y="1856232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79676"/>
            <a:ext cx="210312" cy="210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1700784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Analysis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99032" y="2002536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real syntax trees (tree-sitter: Java, Kotlin, C#, JS/TS, Go + Python) to measure exact complexity and flag dead code, null risk and type confusion — without running the code.</a:t>
            </a:r>
            <a:endParaRPr lang="en-US" sz="1030" dirty="0"/>
          </a:p>
        </p:txBody>
      </p:sp>
      <p:sp>
        <p:nvSpPr>
          <p:cNvPr id="10" name="Shape 7"/>
          <p:cNvSpPr/>
          <p:nvPr/>
        </p:nvSpPr>
        <p:spPr>
          <a:xfrm>
            <a:off x="6278728" y="1572768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78728" y="1572768"/>
            <a:ext cx="64008" cy="10241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Shape 9"/>
          <p:cNvSpPr/>
          <p:nvPr/>
        </p:nvSpPr>
        <p:spPr>
          <a:xfrm>
            <a:off x="6498184" y="1856232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628" y="1979676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83400" y="1700784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 Scanning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7083400" y="2002536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infrastructure-as-code (Terraform, Kubernetes, Docker) for security misconfigurations before deploy.</a:t>
            </a:r>
            <a:endParaRPr lang="en-US" sz="1030" dirty="0"/>
          </a:p>
        </p:txBody>
      </p:sp>
      <p:sp>
        <p:nvSpPr>
          <p:cNvPr id="16" name="Shape 12"/>
          <p:cNvSpPr/>
          <p:nvPr/>
        </p:nvSpPr>
        <p:spPr>
          <a:xfrm>
            <a:off x="594360" y="2724912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724912"/>
            <a:ext cx="64008" cy="10241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4"/>
          <p:cNvSpPr/>
          <p:nvPr/>
        </p:nvSpPr>
        <p:spPr>
          <a:xfrm>
            <a:off x="813816" y="3008376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131820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99032" y="2852928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/ Secrets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399032" y="3154680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Shannon-entropy scoring plus known key prefixes to catch hardcoded credentials, API keys and tokens.</a:t>
            </a:r>
            <a:endParaRPr lang="en-US" sz="1030" dirty="0"/>
          </a:p>
        </p:txBody>
      </p:sp>
      <p:sp>
        <p:nvSpPr>
          <p:cNvPr id="22" name="Shape 17"/>
          <p:cNvSpPr/>
          <p:nvPr/>
        </p:nvSpPr>
        <p:spPr>
          <a:xfrm>
            <a:off x="6278728" y="2724912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78728" y="2724912"/>
            <a:ext cx="64008" cy="10241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Shape 19"/>
          <p:cNvSpPr/>
          <p:nvPr/>
        </p:nvSpPr>
        <p:spPr>
          <a:xfrm>
            <a:off x="6498184" y="3008376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1628" y="3131820"/>
            <a:ext cx="210312" cy="2103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3400" y="2852928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 — Composition Analysis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083400" y="3154680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third-party dependencies against the OSV database for known CVEs (vulnerable versions).</a:t>
            </a:r>
            <a:endParaRPr lang="en-US" sz="1030" dirty="0"/>
          </a:p>
        </p:txBody>
      </p:sp>
      <p:sp>
        <p:nvSpPr>
          <p:cNvPr id="28" name="Shape 22"/>
          <p:cNvSpPr/>
          <p:nvPr/>
        </p:nvSpPr>
        <p:spPr>
          <a:xfrm>
            <a:off x="594360" y="3877056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3877056"/>
            <a:ext cx="64008" cy="10241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813816" y="416052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283964"/>
            <a:ext cx="210312" cy="21031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99032" y="4005072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Taint Analysis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399032" y="4306824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untrusted input (source) to a dangerous operation (sink) to expose injection &amp; data-flow flaws (CWE).</a:t>
            </a:r>
            <a:endParaRPr lang="en-US" sz="1030" dirty="0"/>
          </a:p>
        </p:txBody>
      </p:sp>
      <p:sp>
        <p:nvSpPr>
          <p:cNvPr id="34" name="Shape 27"/>
          <p:cNvSpPr/>
          <p:nvPr/>
        </p:nvSpPr>
        <p:spPr>
          <a:xfrm>
            <a:off x="6278728" y="3877056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278728" y="3877056"/>
            <a:ext cx="64008" cy="1024128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6" name="Shape 29"/>
          <p:cNvSpPr/>
          <p:nvPr/>
        </p:nvSpPr>
        <p:spPr>
          <a:xfrm>
            <a:off x="6498184" y="416052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1628" y="4283964"/>
            <a:ext cx="210312" cy="21031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83400" y="4005072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7083400" y="4306824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 that scores how far a change ripples across files and services, from 0 to 100.</a:t>
            </a:r>
            <a:endParaRPr lang="en-US" sz="1030" dirty="0"/>
          </a:p>
        </p:txBody>
      </p:sp>
      <p:sp>
        <p:nvSpPr>
          <p:cNvPr id="40" name="Shape 32"/>
          <p:cNvSpPr/>
          <p:nvPr/>
        </p:nvSpPr>
        <p:spPr>
          <a:xfrm>
            <a:off x="594360" y="5029200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94360" y="5029200"/>
            <a:ext cx="64008" cy="10241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Shape 34"/>
          <p:cNvSpPr/>
          <p:nvPr/>
        </p:nvSpPr>
        <p:spPr>
          <a:xfrm>
            <a:off x="813816" y="5312664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260" y="5436108"/>
            <a:ext cx="210312" cy="210312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1399032" y="5157216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Risk</a:t>
            </a:r>
            <a:endParaRPr lang="en-US" sz="1350" dirty="0"/>
          </a:p>
        </p:txBody>
      </p:sp>
      <p:sp>
        <p:nvSpPr>
          <p:cNvPr id="45" name="Text 36"/>
          <p:cNvSpPr/>
          <p:nvPr/>
        </p:nvSpPr>
        <p:spPr>
          <a:xfrm>
            <a:off x="1399032" y="5458968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Mines change history for hot files, escalating churn and security erosion over time.</a:t>
            </a:r>
            <a:endParaRPr lang="en-US" sz="1030" dirty="0"/>
          </a:p>
        </p:txBody>
      </p:sp>
      <p:sp>
        <p:nvSpPr>
          <p:cNvPr id="46" name="Shape 37"/>
          <p:cNvSpPr/>
          <p:nvPr/>
        </p:nvSpPr>
        <p:spPr>
          <a:xfrm>
            <a:off x="6278728" y="5029200"/>
            <a:ext cx="5318608" cy="1024128"/>
          </a:xfrm>
          <a:prstGeom prst="roundRect">
            <a:avLst>
              <a:gd name="adj" fmla="val 7143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6278728" y="5029200"/>
            <a:ext cx="64008" cy="102412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Shape 39"/>
          <p:cNvSpPr/>
          <p:nvPr/>
        </p:nvSpPr>
        <p:spPr>
          <a:xfrm>
            <a:off x="6498184" y="5312664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1628" y="5436108"/>
            <a:ext cx="210312" cy="210312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7083400" y="5157216"/>
            <a:ext cx="4358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LLM-as-Judge</a:t>
            </a:r>
            <a:endParaRPr lang="en-US" sz="1350" dirty="0"/>
          </a:p>
        </p:txBody>
      </p:sp>
      <p:sp>
        <p:nvSpPr>
          <p:cNvPr id="51" name="Text 41"/>
          <p:cNvSpPr/>
          <p:nvPr/>
        </p:nvSpPr>
        <p:spPr>
          <a:xfrm>
            <a:off x="7083400" y="5458968"/>
            <a:ext cx="431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AI judges grade every agent's output for completeness, precision and specificity.</a:t>
            </a:r>
            <a:endParaRPr lang="en-US" sz="1030" dirty="0"/>
          </a:p>
        </p:txBody>
      </p:sp>
      <p:sp>
        <p:nvSpPr>
          <p:cNvPr id="52" name="Text 42"/>
          <p:cNvSpPr/>
          <p:nvPr/>
        </p:nvSpPr>
        <p:spPr>
          <a:xfrm>
            <a:off x="594360" y="635508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Reference-impact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(cross-repo call-site tracing)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correlation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(agreement boosts confidence, dedupes to Top Issues)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temp-0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inference  ·  </a:t>
            </a:r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(auto-isolate a failing agent)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Taint Analysis — source → sink data 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analysis tracks data from where it enters the system to where it is used, following it through assignments and method calls.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 / LDAP injection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scripting (XSS)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traversal &amp; SSRF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unsanitised value reaching a sensitive sink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high-severity breaches are a tainted value reaching a dangerous sink. CIAA shows the exact source → sink path with its CWE.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214884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68312" y="225856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68312" y="251460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request.getParameter("id")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68312" y="279806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user input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24748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47472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8312" y="35844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PROPAGATION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8312" y="384048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q = "...WHERE id=" + id;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68312" y="412394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taint flows into the query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24748" y="4507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03720" y="4800600"/>
            <a:ext cx="4190695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68312" y="491032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SINK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68312" y="5166360"/>
            <a:ext cx="38615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stmt.execute(q)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68312" y="5449824"/>
            <a:ext cx="38615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CWE-89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Analysis — understanding code structure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parses source into a real syntax tree (Java, Kotlin, C#, JS/TS, Go — plus Python via stdlib ast), which CIAA walks to measure exact complexity without executing the code.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Unreachable / dead code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Null-dereference &amp; none-type risk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confusion / unsafe casts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&amp; deep-nesting hot-spots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latent bugs a regex linter can't see, because it reasons over structure — not just text.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2057400"/>
            <a:ext cx="4465015" cy="1280160"/>
          </a:xfrm>
          <a:prstGeom prst="roundRect">
            <a:avLst>
              <a:gd name="adj" fmla="val 5000"/>
            </a:avLst>
          </a:prstGeom>
          <a:solidFill>
            <a:srgbClr val="0E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157984"/>
            <a:ext cx="4190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risk(int x) {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(x &gt; 0) return x;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CA5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log(x);  // unreachable</a:t>
            </a:r>
            <a:endParaRPr lang="en-US" sz="11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3429000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an AST 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0388" y="37947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8130388" y="3794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 risk()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99068" y="4251960"/>
            <a:ext cx="-169164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7590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(x&gt;0)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99068" y="4251960"/>
            <a:ext cx="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754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754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x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99068" y="4251960"/>
            <a:ext cx="1691640" cy="411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959188" y="46634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59188" y="4663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log(x) ⚠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&amp; Secrets — spotting hardcoded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measures how random a string is. Real secrets (keys, tokens) look random — high entropy — while normal text and config do not.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API keys &amp; tokens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&amp; connection strings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keys / certificates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prefixes: AKIA, ghp_, sk-…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committed credential can compromise a whole system. Entropy + prefix rules catch them before they reach repo history.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1031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SCORE (0–8 bits)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 = "AKIAJ4F2K7Q7VZ8XN1"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66560" y="297180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971800"/>
            <a:ext cx="2896252" cy="23774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4023" y="291693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 ⚠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6560" y="379476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greeting = "hello world"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766560" y="416052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8" name="Shape 16"/>
          <p:cNvSpPr/>
          <p:nvPr/>
        </p:nvSpPr>
        <p:spPr>
          <a:xfrm>
            <a:off x="6766560" y="4160520"/>
            <a:ext cx="1145030" cy="23774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4023" y="410565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 ✓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66560" y="4983480"/>
            <a:ext cx="4465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= "ghp_xT9...";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766560" y="5349240"/>
            <a:ext cx="3367735" cy="237744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5349240"/>
            <a:ext cx="3030962" cy="23774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4023" y="52943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Risk — learning from change history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risk looks beyond this PR at a file's history — how often it changes, whether changes are getting riskier, and security regressions over time.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hot-spots (frequently changed files)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change patterns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erosion across commits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with repeated past incidents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that change constantly and trend riskier are where defects cluster — history tells you where to look first.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1031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FREQUENCY  ·  RISK TREND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PaymentService.java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290779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14" name="Shape 12"/>
          <p:cNvSpPr/>
          <p:nvPr/>
        </p:nvSpPr>
        <p:spPr>
          <a:xfrm>
            <a:off x="6766560" y="2907792"/>
            <a:ext cx="2938744" cy="237744"/>
          </a:xfrm>
          <a:prstGeom prst="roundRect">
            <a:avLst>
              <a:gd name="adj" fmla="val 19231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9969703" y="28529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79815" y="2606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degrading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766560" y="356616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AccountDao.java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386791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3867912"/>
            <a:ext cx="1917917" cy="237744"/>
          </a:xfrm>
          <a:prstGeom prst="roundRect">
            <a:avLst>
              <a:gd name="adj" fmla="val 19231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969703" y="38130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9×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79815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66560" y="452628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JsonWrapperUtils.java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766560" y="4828032"/>
            <a:ext cx="3093415" cy="237744"/>
          </a:xfrm>
          <a:prstGeom prst="roundRect">
            <a:avLst>
              <a:gd name="adj" fmla="val 19231"/>
            </a:avLst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6766560" y="4828032"/>
            <a:ext cx="928025" cy="237744"/>
          </a:xfrm>
          <a:prstGeom prst="roundRect">
            <a:avLst>
              <a:gd name="adj" fmla="val 19231"/>
            </a:avLst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9969703" y="477316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79815" y="4526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improving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 — how far a change ripples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CIAA walks the service-dependency graph (NetworkX / Neo4j) — or derives it from real signals — to find everything that transitively depends on what you changed.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&amp; transitively affected services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Shared-library edits with wide fan-out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that amplify reach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0–100 reach score with a breakdown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reviewers and release managers how risky a merge is, and which teams to involve — before it ships.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412480" y="3035808"/>
            <a:ext cx="1234440" cy="1216152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412480" y="3858768"/>
            <a:ext cx="1234440" cy="393192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4251960"/>
            <a:ext cx="1234440" cy="429768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4251960"/>
            <a:ext cx="1234440" cy="1115568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14255" y="1993392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9814255" y="199339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100 ·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12280" y="3977640"/>
            <a:ext cx="1600200" cy="566928"/>
          </a:xfrm>
          <a:prstGeom prst="roundRect">
            <a:avLst>
              <a:gd name="adj" fmla="val 1129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403250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shared-domain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12280" y="4288536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ECA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646920" y="278892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278892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payments-svc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46920" y="361188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2DD4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46920" y="36118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accounts-svc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646920" y="443484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44348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ledger-svc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46920" y="5120640"/>
            <a:ext cx="1691640" cy="493776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17780">
            <a:solidFill>
              <a:srgbClr val="2DD4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512064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billing-svc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66560" y="580644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transitively depends on the changed library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 — finding known CVEs in dependencies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Composition Analysis inventories your third-party dependencies and checks each version against the OSV vulnerability database for known CVEs.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DETECTS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5394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CVEs in declared dependencies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version ranges (OSV.dev)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+ fixed-version guidance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&amp; other manifests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513892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5413248"/>
            <a:ext cx="5440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code is dependencies you didn't write — SCA catches a known-exploited library before it reaches production.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783080"/>
            <a:ext cx="5196535" cy="4434840"/>
          </a:xfrm>
          <a:prstGeom prst="roundRect">
            <a:avLst>
              <a:gd name="adj" fmla="val 185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0" y="2057400"/>
            <a:ext cx="4465015" cy="868680"/>
          </a:xfrm>
          <a:prstGeom prst="roundRect">
            <a:avLst>
              <a:gd name="adj" fmla="val 7368"/>
            </a:avLst>
          </a:prstGeom>
          <a:solidFill>
            <a:srgbClr val="0E1A33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2157984"/>
            <a:ext cx="4190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pom.xml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log4j-core · jackson-databind · commons-text 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0" y="2999232"/>
            <a:ext cx="5196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scanned against OSV.dev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3383280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0" y="3383280"/>
            <a:ext cx="64008" cy="6949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Text 14"/>
          <p:cNvSpPr/>
          <p:nvPr/>
        </p:nvSpPr>
        <p:spPr>
          <a:xfrm>
            <a:off x="6967728" y="3474720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log4j-core @ 2.14.1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67728" y="3767328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CVE-2021-44228 (Log4Shell)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271455" y="35844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10271455" y="3584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766560" y="4224528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4224528"/>
            <a:ext cx="64008" cy="6949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967728" y="4315968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jackson-databind @ 2.9.8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67728" y="46085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CVE-2020-36518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271455" y="4425696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10271455" y="442569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5065776"/>
            <a:ext cx="446501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5065776"/>
            <a:ext cx="64008" cy="6949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6967728" y="5157216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commons-text @ 1.9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67728" y="544982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CVE-2022-42889 (Text4Shell)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271455" y="526694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455" y="52669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deterministic, auditable merge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16A34A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331720"/>
            <a:ext cx="3393338" cy="320040"/>
          </a:xfrm>
          <a:prstGeom prst="rect">
            <a:avLst/>
          </a:prstGeom>
          <a:solidFill>
            <a:srgbClr val="16A3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can proceed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05256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blocking security/CVE findings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cover new critical paths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breaking contract changes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99178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D97706"/>
          </a:solidFill>
          <a:ln/>
        </p:spPr>
      </p:sp>
      <p:sp>
        <p:nvSpPr>
          <p:cNvPr id="13" name="Shape 10"/>
          <p:cNvSpPr/>
          <p:nvPr/>
        </p:nvSpPr>
        <p:spPr>
          <a:xfrm>
            <a:off x="4399178" y="2331720"/>
            <a:ext cx="3393338" cy="32004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218" y="201168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22138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4673498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required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710074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dropped on changed code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Medium-severity findings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untested security-sensitive method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03997" y="1783080"/>
            <a:ext cx="3393338" cy="3383280"/>
          </a:xfrm>
          <a:prstGeom prst="roundRect">
            <a:avLst>
              <a:gd name="adj" fmla="val 2703"/>
            </a:avLst>
          </a:prstGeom>
          <a:solidFill>
            <a:srgbClr val="F6F8FB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03997" y="1783080"/>
            <a:ext cx="3393338" cy="868680"/>
          </a:xfrm>
          <a:prstGeom prst="roundRect">
            <a:avLst>
              <a:gd name="adj" fmla="val 10526"/>
            </a:avLst>
          </a:prstGeom>
          <a:solidFill>
            <a:srgbClr val="DC2626"/>
          </a:solidFill>
          <a:ln/>
        </p:spPr>
      </p:sp>
      <p:sp>
        <p:nvSpPr>
          <p:cNvPr id="20" name="Shape 16"/>
          <p:cNvSpPr/>
          <p:nvPr/>
        </p:nvSpPr>
        <p:spPr>
          <a:xfrm>
            <a:off x="8203997" y="2331720"/>
            <a:ext cx="3393338" cy="32004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037" y="201168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26957" y="1947672"/>
            <a:ext cx="24789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8478317" y="27432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fix before merge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514893" y="3154680"/>
            <a:ext cx="28264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secret / critical CVE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destructive migration</a:t>
            </a:r>
            <a:endParaRPr lang="en-US" sz="1200" dirty="0"/>
          </a:p>
          <a:p>
            <a:pPr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public API with consumers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94360" y="55321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Most-restrictive-wins policy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every decision logged with a request ID  ·  RBAC override  ·  mark findings </a:t>
            </a:r>
            <a:pPr algn="ctr"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/ false-positive</a:t>
            </a:r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train the gate over time.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SonarQube &amp; Veracode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83080"/>
          <a:ext cx="11002975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21945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Capability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Traditional SAST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CIAA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Code-pattern &amp; security findings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Diff-native — understands the actual change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Cross-repo blast radius &amp; downstream consumers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&amp; serialization impact (DTO / JSON)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adequacy for the changed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merge gate with 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Reviewer feedback loop (learns false positives)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 / self-hosted LLM (Bitbucket Server)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76200" marT="38100" marB="381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</a:rPr>
                        <a:t>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   </a:t>
            </a:r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partial   </a:t>
            </a:r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covered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Production-ready, on-premises, and trustworthy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5114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5114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16554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55868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5868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47308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— deterministic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86621" y="1691640"/>
            <a:ext cx="2510714" cy="1371600"/>
          </a:xfrm>
          <a:prstGeom prst="roundRect">
            <a:avLst>
              <a:gd name="adj" fmla="val 6667"/>
            </a:avLst>
          </a:prstGeom>
          <a:solidFill>
            <a:srgbClr val="16243F"/>
          </a:solidFill>
          <a:ln w="12700">
            <a:solidFill>
              <a:srgbClr val="2A3D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86621" y="1783080"/>
            <a:ext cx="25107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78061" y="2487168"/>
            <a:ext cx="2327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providers supported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42900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3577133"/>
            <a:ext cx="252374" cy="25237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325880" y="339242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&amp; audit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25880" y="375818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+ API keys, structured audit log, HMAC-verified webhooks.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78728" y="342900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860" y="3577133"/>
            <a:ext cx="252374" cy="25237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10248" y="339242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Resilience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7010248" y="375818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control, LLM concurrency limiter, circuit breakers, sanitized errors.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94360" y="475488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3" y="4903013"/>
            <a:ext cx="252374" cy="25237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325880" y="471830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1325880" y="508406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/ readiness probes, rate limiting, Prometheus metrics, Docker.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78728" y="4754880"/>
            <a:ext cx="548640" cy="548640"/>
          </a:xfrm>
          <a:prstGeom prst="ellipse">
            <a:avLst/>
          </a:prstGeom>
          <a:solidFill>
            <a:srgbClr val="1E2C4A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860" y="4903013"/>
            <a:ext cx="252374" cy="25237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010248" y="4718304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assurance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7010248" y="5084064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AAB7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panel scores every agent; a golden-case quality gate fails CI on any detection regression.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technologies — and what each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72768"/>
            <a:ext cx="64008" cy="1554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773936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897380"/>
            <a:ext cx="210312" cy="2103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7739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&amp; API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32104" y="228600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· FastAPI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async REST API &amp; analysis pipeline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v2 + settings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typed models &amp; env-driven config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production ASGI app server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1572768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78728" y="1572768"/>
            <a:ext cx="64008" cy="15544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2" name="Shape 9"/>
          <p:cNvSpPr/>
          <p:nvPr/>
        </p:nvSpPr>
        <p:spPr>
          <a:xfrm>
            <a:off x="6479896" y="1773936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340" y="1897380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55968" y="1773936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&amp; orchestration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516472" y="2286000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OpenAI · Azure · Ollama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pluggable LLMs via one client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agent prompts @ temp 0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deterministic security &amp; impact analysis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(optional)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graph-based agent pipeline + tracing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94360" y="3291840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3291840"/>
            <a:ext cx="64008" cy="1554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Shape 14"/>
          <p:cNvSpPr/>
          <p:nvPr/>
        </p:nvSpPr>
        <p:spPr>
          <a:xfrm>
            <a:off x="795528" y="3493008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61645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4930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Impact &amp; dependency graph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32104" y="4005072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NetworkX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in-process blast-radius &amp; reference graph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(optional)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persistent, org-wide service graph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+ ripgrep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cross-repo call-site tracing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278728" y="3291840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78728" y="3291840"/>
            <a:ext cx="64008" cy="1554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Shape 19"/>
          <p:cNvSpPr/>
          <p:nvPr/>
        </p:nvSpPr>
        <p:spPr>
          <a:xfrm>
            <a:off x="6479896" y="3493008"/>
            <a:ext cx="457200" cy="4572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340" y="3616452"/>
            <a:ext cx="210312" cy="21031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55968" y="3493008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SCA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6516472" y="4005072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OSV.dev API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known-CVE lookup for dependencies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 · taint · entropy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precise 6-language parsing &amp; detection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pom.xml parser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direct-dependency vulnerability scan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594360" y="5010912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5010912"/>
            <a:ext cx="64008" cy="15544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0" name="Shape 24"/>
          <p:cNvSpPr/>
          <p:nvPr/>
        </p:nvSpPr>
        <p:spPr>
          <a:xfrm>
            <a:off x="795528" y="521208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335524"/>
            <a:ext cx="210312" cy="21031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371600" y="52120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&amp; visualization</a:t>
            </a:r>
            <a:endParaRPr lang="en-US" sz="1450" dirty="0"/>
          </a:p>
        </p:txBody>
      </p:sp>
      <p:sp>
        <p:nvSpPr>
          <p:cNvPr id="33" name="Text 26"/>
          <p:cNvSpPr/>
          <p:nvPr/>
        </p:nvSpPr>
        <p:spPr>
          <a:xfrm>
            <a:off x="832104" y="57241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reviewer dashboard &amp; persona views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D3.js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layered / force call-graph rendering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78728" y="5010912"/>
            <a:ext cx="5318608" cy="1554480"/>
          </a:xfrm>
          <a:prstGeom prst="roundRect">
            <a:avLst>
              <a:gd name="adj" fmla="val 4706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278728" y="5010912"/>
            <a:ext cx="64008" cy="15544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6" name="Shape 29"/>
          <p:cNvSpPr/>
          <p:nvPr/>
        </p:nvSpPr>
        <p:spPr>
          <a:xfrm>
            <a:off x="6479896" y="5212080"/>
            <a:ext cx="457200" cy="45720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340" y="5335524"/>
            <a:ext cx="210312" cy="21031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055968" y="5212080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reliability &amp; ops</a:t>
            </a:r>
            <a:endParaRPr lang="en-US" sz="1450" dirty="0"/>
          </a:p>
        </p:txBody>
      </p:sp>
      <p:sp>
        <p:nvSpPr>
          <p:cNvPr id="39" name="Text 31"/>
          <p:cNvSpPr/>
          <p:nvPr/>
        </p:nvSpPr>
        <p:spPr>
          <a:xfrm>
            <a:off x="6516472" y="57241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Redis · ChromaDB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report store · cache · semantic search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tenacity · OpenTelemetry · Prometheus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retries · tracing · metrics</a:t>
            </a:r>
            <a:endParaRPr lang="en-US" sz="1050" dirty="0"/>
          </a:p>
          <a:p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OpenShift · pytest  </a:t>
            </a:r>
            <a:pPr indent="0" marL="0">
              <a:lnSpc>
                <a:spcPct val="10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containers · deploy · 538 tests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CIAA goes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quality is production-grade today — the roadmap scales it to an organisation-wide platform.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28800"/>
            <a:ext cx="2510714" cy="914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2103120"/>
            <a:ext cx="512064" cy="512064"/>
          </a:xfrm>
          <a:prstGeom prst="ellipse">
            <a:avLst/>
          </a:prstGeom>
          <a:solidFill>
            <a:srgbClr val="38BDF8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73" y="2241377"/>
            <a:ext cx="235549" cy="2355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463040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Scale-out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2104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job queue + autoscaling analysis workers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report store (replaces SQLite)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rate &amp; LLM concurrency limits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32104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2104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teams, many PRs, zero queue contention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3086786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25114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25114" y="1828800"/>
            <a:ext cx="2510714" cy="914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7" name="Shape 14"/>
          <p:cNvSpPr/>
          <p:nvPr/>
        </p:nvSpPr>
        <p:spPr>
          <a:xfrm>
            <a:off x="3644570" y="2103120"/>
            <a:ext cx="512064" cy="512064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827" y="2241377"/>
            <a:ext cx="235549" cy="235549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93794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4293794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access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662858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OIDC login with team-scoped RBAC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/ KMS secret management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 export + required PR status checks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662858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662858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merge gate, org-grade security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5917540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255868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255868" y="1828800"/>
            <a:ext cx="2510714" cy="914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7" name="Shape 23"/>
          <p:cNvSpPr/>
          <p:nvPr/>
        </p:nvSpPr>
        <p:spPr>
          <a:xfrm>
            <a:off x="6475324" y="2103120"/>
            <a:ext cx="512064" cy="512064"/>
          </a:xfrm>
          <a:prstGeom prst="ellipse">
            <a:avLst/>
          </a:prstGeom>
          <a:solidFill>
            <a:srgbClr val="2DD4BF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3581" y="2241377"/>
            <a:ext cx="235549" cy="235549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124548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7124548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Deeper detection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6493612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SCA (full dependency tree CVEs)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Compiler-index (LSIF/SCIP) cross-repo references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corpus grown from real reviewed PRs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6493612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493612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recall with measured precision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8748293" y="35433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9086621" y="1828800"/>
            <a:ext cx="2510714" cy="3977640"/>
          </a:xfrm>
          <a:prstGeom prst="roundRect">
            <a:avLst>
              <a:gd name="adj" fmla="val 3278"/>
            </a:avLst>
          </a:prstGeom>
          <a:solidFill>
            <a:srgbClr val="F6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086621" y="1828800"/>
            <a:ext cx="2510714" cy="914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7" name="Shape 32"/>
          <p:cNvSpPr/>
          <p:nvPr/>
        </p:nvSpPr>
        <p:spPr>
          <a:xfrm>
            <a:off x="9306077" y="2103120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4335" y="2241377"/>
            <a:ext cx="235549" cy="235549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955301" y="2103120"/>
            <a:ext cx="150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9955301" y="2331720"/>
            <a:ext cx="15048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Operate at scale</a:t>
            </a:r>
            <a:endParaRPr lang="en-US" sz="1500" dirty="0"/>
          </a:p>
        </p:txBody>
      </p:sp>
      <p:sp>
        <p:nvSpPr>
          <p:cNvPr id="41" name="Text 35"/>
          <p:cNvSpPr/>
          <p:nvPr/>
        </p:nvSpPr>
        <p:spPr>
          <a:xfrm>
            <a:off x="9324365" y="2852928"/>
            <a:ext cx="205351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gate thresholds (OPA), per team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SLOs, alerting &amp; cost dashboards</a:t>
            </a:r>
            <a:endParaRPr lang="en-US" sz="1050" dirty="0"/>
          </a:p>
          <a:p>
            <a:pPr marL="127000" indent="-1270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+ canary deploys, load &amp; chaos testing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9324365" y="5093208"/>
            <a:ext cx="203522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324365" y="5184648"/>
            <a:ext cx="205351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like any tier-1 internal platform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594360" y="5989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shipped: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tree-sitter ASTs · cross-agent correlation &amp; Top Issues · CI quality gate · function-context prompts · confidence-weighted gate · warm repo mirror · LLM concurrency control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TASK LIST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Planned tasks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1100297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00400"/>
                <a:gridCol w="5513832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Roadmap task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delivers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Theme</a:t>
                      </a:r>
                      <a:endParaRPr lang="en-US" sz="12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FSD tracking &amp; code-vs-spec 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 each PR to its Functional Specification Document; flag changes that contradict or miss the spec (builds on today's functional-doc upload)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intelligence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impact analysis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FSD + code change + dependent repos to report which business functions are affected and where to regression-test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Functional intelligence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 queue + autoscaling workers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Redis-backed analysis queue; API stays responsive under many concurrent PRs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report store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SQLite for multi-instance deployments, retention policies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Cluster-wide rate &amp; LLM limits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Redis counters so limits hold across replicas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/ OIDC with team RBAC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IdP login, team-scoped data, per-team gate thresholds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Vault / KMS secret 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provider keys on disk; automatic rotation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SARIF export + PR status checks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into code-scanning dashboards; gate enforced as a required 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Transitive SCA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dependency-tree CVE scan (mvn dependency:tree / lockfiles)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Compiler-index cross-repo refs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LSIF/SCIP for exact call-site resolution beyond grep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corpus from real PRs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 the CI quality gate with anonymised production diffs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OPA gate policies · SLO dashboards · Helm/canary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Policy-as-code per team, Grafana SLOs, progressive deploys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DETAIL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quality &amp; measurement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every finding more likely to be real — and prove it with numbers.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45920"/>
          <a:ext cx="1100297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880360"/>
                <a:gridCol w="5879592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Feature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delivers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Theme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 voting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risky-diff agents 3× and keep only findings that appear in ≥2 samples — agreement across runs filters AI noise, complementing today's agreement across agents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finding dedup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similarity merges duplicates that are worded differently — today's correlation groups by file+line only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Auto-tuning from feedback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/ false-positive clicks re-weight rule severity and confidence per repo — the tool gets more precise with use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Cross-file taint propagation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tainted values across files via the reference graph — catches controller → service → DAO injection paths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Test-impact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changed symbols to the tests that exercise them: “these 14 tests must pass before merge”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FSD requirement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 extracted requirements per repo and track requirement → implementing-PR history across releases (spec drift becomes visible)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corpus from real PRs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 the CI quality gate from 12 cases to 50+ using anonymised production diffs (incl. your Java/DTO patterns)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/ recall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quality-gate metrics and reviewer-feedback rates per agent across releases, in Insights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Cost-per-finding 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spent per ACCEPTED finding, per agent — the true efficiency KPI that drives routing decisions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4360" y="6263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features build on shipped foundations: evidence guard · cross-agent correlation · reviewer feedback loop · CI quality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DETAIL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Efficiency, cost &amp; advanced AI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runs and lower token spend — then capabilities no scanner has.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45920"/>
          <a:ext cx="1100297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880360"/>
                <a:gridCol w="5879592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Feature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delivers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Theme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agent routing  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agents whose domain isn't in the diff (no IaC files → no IaC LLM call) — 30–50% token savings on typical PRs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re-analysis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PR update, re-analyse only changed files and reuse prior results — second pushes drop from minutes to seconds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caching  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the static prompt prefix (system + schema + rubric) at the provider — ~40–60% input-token cost cut, zero behaviour change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Tiered model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fast model triages each file's risk; only risky files reach the strong model — full coverage of big PRs at a fraction of the cost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Streaming results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each agent's findings to the dashboard as they land — reviewers start reading while later agents still run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Symbol-level diff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per-(file-hash, agent) results across PRs — rebases and cherry-picks hit cache org-wide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Auto-fix PRs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the remediation agent's fix diffs as a suggested commit / follow-up PR with one click — findings become fixes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 knowledge base (RAG)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docs, ADRs, FSDs and past review comments; agents retrieve YOUR conventions per diff, not generic best practice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prediction 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 from change history + incident outcomes to predict defect probability per file as a first-class gate signal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Generated-test execution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 and run the QA agent's test skeletons in a sandbox — close the loop from “should test X” to “X was tested”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Shadow mode &amp; A/B prompts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candidate prompts/models silently beside production; promote only when the judge panel + golden gate confirm improvement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 inline feedback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CIAA findings in VS Code / IntelliJ at commit time — issues caught before the PR even opens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AI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4360" y="6263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= quick win. Efficiency items compound: routing + caching + tiering apply to every analysis the org runs.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DETAIL 3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566928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front — parity with SonarQube &amp; Veracode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Program-management features that turn CIAA from a PR checker into an org-wide code-quality platform. Detection stays our edge.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45920"/>
          <a:ext cx="1100297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880360"/>
                <a:gridCol w="5879592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#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Feature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delivers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Sonar / Veracode equivalent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A33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scan + new-code mode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the whole repo once as a baseline; judge PRs only on NEW code while tracking legacy debt separately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as You Code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profiles / rule 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Enable/disable rules, adjust severities and define custom regex/AST rules per repo or team — from the UI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Profiles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Technical-debt quantification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Per-issue fix-effort estimates rolled into an A–E maintainability rating per repo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SQALE rating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ingestion + trends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 JaCoCo/Cobertura from CI so coverage deltas are measured, not estimated; trend per repo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history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 gate conditions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Per-repo gate rules from the UI: “HOLD if new-code coverage &lt; 80% or any new critical”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2DD4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lifecycle &amp; mitigation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get states (open → confirmed → mitigated → fixed), assignees, and security-approved mitigations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Flaw mitigation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center + grace periods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policies like “criticals fixed in 7 days”; exemptions with expiry; PRs evaluated against policy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scans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SBOM generation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CycloneDX/SPDX software bill of materials per release — a growing regulatory requirement in banking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 / SBOM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Auditor-grade reports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PDF attestation per release: OWASP/PCI/CWE mapping with evidence, gate history and sign-offs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 reports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 rollup: every repo's rating, open criticals, gate pass-rate and debt trend — the CISO view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Portfolios / Analytics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Jira / ServiceNow sync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create tickets with two-way status sync (builds on the existing ticket-creator stub)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6366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7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scans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Nightly full-repo scans independent of PRs — catch drift and new CVEs in existing dependencies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508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scans</a:t>
                      </a:r>
                      <a:endParaRPr lang="en-US" sz="8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94360" y="626364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planned: code-duplication detection · security-hotspot review queue · DAST result import · per-application risk scoring.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057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Catch production issues before they merge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24612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CIAA turns every Pull Request into a deep, consistent, evidence-backed review 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real impact analysis with a deterministic merge gate, at PR scale.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64512" y="4526280"/>
            <a:ext cx="1865376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64512" y="452628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PR Review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8488" y="452628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58488" y="45262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 Analysis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055968" y="4526280"/>
            <a:ext cx="2871216" cy="457200"/>
          </a:xfrm>
          <a:prstGeom prst="roundRect">
            <a:avLst>
              <a:gd name="adj" fmla="val 50000"/>
            </a:avLst>
          </a:prstGeom>
          <a:solidFill>
            <a:srgbClr val="16243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5968" y="4526280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Governance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37376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4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CIAA — Code Impact &amp; Analysis Agent</dc:title>
  <dc:subject>PptxGenJS Presentation</dc:subject>
  <dc:creator>CIAA</dc:creator>
  <cp:lastModifiedBy>CIAA</cp:lastModifiedBy>
  <cp:revision>1</cp:revision>
  <dcterms:created xsi:type="dcterms:W3CDTF">2026-06-11T15:15:38Z</dcterms:created>
  <dcterms:modified xsi:type="dcterms:W3CDTF">2026-06-11T15:15:38Z</dcterms:modified>
</cp:coreProperties>
</file>