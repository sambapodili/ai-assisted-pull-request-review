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46304" cy="146304"/>
          </a:xfrm>
          <a:prstGeom prst="ellipse">
            <a:avLst/>
          </a:prstGeom>
          <a:solidFill>
            <a:srgbClr val="2DD4B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59568" y="640080"/>
            <a:ext cx="146304" cy="146304"/>
          </a:xfrm>
          <a:prstGeom prst="ellipse">
            <a:avLst/>
          </a:prstGeom>
          <a:solidFill>
            <a:srgbClr val="2DD4BF">
              <a:alpha val="6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26496" y="640080"/>
            <a:ext cx="146304" cy="146304"/>
          </a:xfrm>
          <a:prstGeom prst="ellipse">
            <a:avLst/>
          </a:prstGeom>
          <a:solidFill>
            <a:srgbClr val="2DD4BF">
              <a:alpha val="5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207008"/>
            <a:ext cx="146304" cy="146304"/>
          </a:xfrm>
          <a:prstGeom prst="ellipse">
            <a:avLst/>
          </a:prstGeom>
          <a:solidFill>
            <a:srgbClr val="2DD4BF">
              <a:alpha val="4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259568" y="1207008"/>
            <a:ext cx="146304" cy="146304"/>
          </a:xfrm>
          <a:prstGeom prst="ellipse">
            <a:avLst/>
          </a:prstGeom>
          <a:solidFill>
            <a:srgbClr val="2DD4BF">
              <a:alpha val="3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26496" y="1207008"/>
            <a:ext cx="146304" cy="146304"/>
          </a:xfrm>
          <a:prstGeom prst="ellipse">
            <a:avLst/>
          </a:prstGeom>
          <a:solidFill>
            <a:srgbClr val="2DD4B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CODE GOVERNANCE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CIAA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Impact &amp; Analysis Agent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436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A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multi-agent framework for Pull-Request review and code-impact analysis —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A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catch production issues before they merge.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" y="5074920"/>
            <a:ext cx="2059229" cy="420624"/>
          </a:xfrm>
          <a:prstGeom prst="roundRect">
            <a:avLst>
              <a:gd name="adj" fmla="val 50000"/>
            </a:avLst>
          </a:prstGeom>
          <a:solidFill>
            <a:srgbClr val="16243F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5074920"/>
            <a:ext cx="205922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specialist agents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854757" y="5074920"/>
            <a:ext cx="2311603" cy="420624"/>
          </a:xfrm>
          <a:prstGeom prst="roundRect">
            <a:avLst>
              <a:gd name="adj" fmla="val 50000"/>
            </a:avLst>
          </a:prstGeom>
          <a:solidFill>
            <a:srgbClr val="16243F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4757" y="5074920"/>
            <a:ext cx="23116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merge gate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67528" y="5074920"/>
            <a:ext cx="2059229" cy="420624"/>
          </a:xfrm>
          <a:prstGeom prst="roundRect">
            <a:avLst>
              <a:gd name="adj" fmla="val 50000"/>
            </a:avLst>
          </a:prstGeom>
          <a:solidFill>
            <a:srgbClr val="16243F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67528" y="5074920"/>
            <a:ext cx="205922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LLM ready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27925" y="5074920"/>
            <a:ext cx="2395728" cy="420624"/>
          </a:xfrm>
          <a:prstGeom prst="roundRect">
            <a:avLst>
              <a:gd name="adj" fmla="val 50000"/>
            </a:avLst>
          </a:prstGeom>
          <a:solidFill>
            <a:srgbClr val="16243F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7925" y="5074920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Bitbucket Server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Reviews don't scale — scanners miss the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013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924812"/>
            <a:ext cx="210312" cy="21031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10512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1288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PRs overwhelm reviewers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161288" y="209397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routinely span 50–100+ files. Humans can't reliably trace cross-cutting impact across modules and services.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94360" y="28803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3003804"/>
            <a:ext cx="210312" cy="210312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889504"/>
            <a:ext cx="384048" cy="3840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61288" y="28163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SAST is blind to the change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1161288" y="317296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/ Veracode flag code-pattern issues, but not change impact: blast radius, downstream consumers, contract breaks, test adequacy.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594360" y="39593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" y="4082796"/>
            <a:ext cx="210312" cy="210312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968496"/>
            <a:ext cx="384048" cy="38404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61288" y="38953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deterministic merge decision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1161288" y="42519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are inconsistent and reviewer-dependent — no auditable, repeatable APPROVE / HOLD / BLOCK gate.</a:t>
            </a:r>
            <a:endParaRPr lang="en-US" sz="1150" dirty="0"/>
          </a:p>
        </p:txBody>
      </p:sp>
      <p:sp>
        <p:nvSpPr>
          <p:cNvPr id="19" name="Shape 11"/>
          <p:cNvSpPr/>
          <p:nvPr/>
        </p:nvSpPr>
        <p:spPr>
          <a:xfrm>
            <a:off x="594360" y="503834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" y="5161788"/>
            <a:ext cx="210312" cy="210312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5047488"/>
            <a:ext cx="384048" cy="38404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161288" y="49743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Regressions reach production</a:t>
            </a:r>
            <a:endParaRPr lang="en-US" sz="1500" dirty="0"/>
          </a:p>
        </p:txBody>
      </p:sp>
      <p:sp>
        <p:nvSpPr>
          <p:cNvPr id="23" name="Text 13"/>
          <p:cNvSpPr/>
          <p:nvPr/>
        </p:nvSpPr>
        <p:spPr>
          <a:xfrm>
            <a:off x="1161288" y="533095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API &amp; data-contract changes slip through and surface as incidents after release.</a:t>
            </a:r>
            <a:endParaRPr lang="en-US" sz="1150" dirty="0"/>
          </a:p>
        </p:txBody>
      </p:sp>
      <p:sp>
        <p:nvSpPr>
          <p:cNvPr id="24" name="Shape 14"/>
          <p:cNvSpPr/>
          <p:nvPr/>
        </p:nvSpPr>
        <p:spPr>
          <a:xfrm>
            <a:off x="7040880" y="1783080"/>
            <a:ext cx="4556455" cy="4206240"/>
          </a:xfrm>
          <a:prstGeom prst="roundRect">
            <a:avLst>
              <a:gd name="adj" fmla="val 2174"/>
            </a:avLst>
          </a:prstGeom>
          <a:solidFill>
            <a:srgbClr val="0E1A33"/>
          </a:solidFill>
          <a:ln/>
        </p:spPr>
      </p:sp>
      <p:sp>
        <p:nvSpPr>
          <p:cNvPr id="25" name="Text 15"/>
          <p:cNvSpPr/>
          <p:nvPr/>
        </p:nvSpPr>
        <p:spPr>
          <a:xfrm>
            <a:off x="7406640" y="2057400"/>
            <a:ext cx="3824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3000" dirty="0"/>
          </a:p>
        </p:txBody>
      </p:sp>
      <p:sp>
        <p:nvSpPr>
          <p:cNvPr id="26" name="Text 16"/>
          <p:cNvSpPr/>
          <p:nvPr/>
        </p:nvSpPr>
        <p:spPr>
          <a:xfrm>
            <a:off x="7406640" y="2624328"/>
            <a:ext cx="3824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 a single PR — beyond human review capacity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7406640" y="3355848"/>
            <a:ext cx="3824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</a:t>
            </a:r>
            <a:endParaRPr lang="en-US" sz="3000" dirty="0"/>
          </a:p>
        </p:txBody>
      </p:sp>
      <p:sp>
        <p:nvSpPr>
          <p:cNvPr id="28" name="Text 18"/>
          <p:cNvSpPr/>
          <p:nvPr/>
        </p:nvSpPr>
        <p:spPr>
          <a:xfrm>
            <a:off x="7406640" y="3922776"/>
            <a:ext cx="3824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cross-repo blast radius &amp; downstream consumers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7406640" y="4654296"/>
            <a:ext cx="3824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Inconsistent</a:t>
            </a:r>
            <a:endParaRPr lang="en-US" sz="3000" dirty="0"/>
          </a:p>
        </p:txBody>
      </p:sp>
      <p:sp>
        <p:nvSpPr>
          <p:cNvPr id="30" name="Text 20"/>
          <p:cNvSpPr/>
          <p:nvPr/>
        </p:nvSpPr>
        <p:spPr>
          <a:xfrm>
            <a:off x="7406640" y="5221224"/>
            <a:ext cx="3824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decisions with no audit trail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multi-agent reviewer that understands the change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A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specialized AI agents analyze every PR across security, quality, tests, contracts and downstream impact — then a deterministic policy returns one auditable decision.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3423818" cy="3200400"/>
          </a:xfrm>
          <a:prstGeom prst="roundRect">
            <a:avLst>
              <a:gd name="adj" fmla="val 2857"/>
            </a:avLst>
          </a:prstGeom>
          <a:solidFill>
            <a:srgbClr val="16243F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651760"/>
            <a:ext cx="713232" cy="713232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413" y="2844333"/>
            <a:ext cx="328087" cy="3280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611880"/>
            <a:ext cx="2692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PR Review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4114800"/>
            <a:ext cx="26922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code quality, test adequacy, compliance and dependency/CVE scanning on the diff.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3938" y="2286000"/>
            <a:ext cx="3423818" cy="3200400"/>
          </a:xfrm>
          <a:prstGeom prst="roundRect">
            <a:avLst>
              <a:gd name="adj" fmla="val 2857"/>
            </a:avLst>
          </a:prstGeom>
          <a:solidFill>
            <a:srgbClr val="16243F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95418" y="2651760"/>
            <a:ext cx="713232" cy="713232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991" y="2844333"/>
            <a:ext cx="328087" cy="3280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49698" y="3611880"/>
            <a:ext cx="2692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Impact Analysis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49698" y="4114800"/>
            <a:ext cx="26922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radius, cross-repo references, downstream consumers, and contract / serialization changes.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73517" y="2286000"/>
            <a:ext cx="3423818" cy="3200400"/>
          </a:xfrm>
          <a:prstGeom prst="roundRect">
            <a:avLst>
              <a:gd name="adj" fmla="val 2857"/>
            </a:avLst>
          </a:prstGeom>
          <a:solidFill>
            <a:srgbClr val="16243F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584997" y="2651760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569" y="2844333"/>
            <a:ext cx="328087" cy="3280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39277" y="3611880"/>
            <a:ext cx="2692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Governance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539277" y="4114800"/>
            <a:ext cx="26922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APPROVE / HOLD / BLOCK gate, evidence per finding, and a reviewer feedback loop.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94360" y="580644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GitHub · GitHub Enterprise · Bitbucket Cloud &amp; Server (Data Center)   |   Any LLM: Anthropic · OpenAI · Azure · Ollama · self-hosted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pipeline · four phases · one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286000"/>
            <a:ext cx="1993392" cy="2468880"/>
          </a:xfrm>
          <a:prstGeom prst="roundRect">
            <a:avLst>
              <a:gd name="adj" fmla="val 4587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286000"/>
            <a:ext cx="1993392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1271016" y="2578608"/>
            <a:ext cx="640080" cy="64008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3838" y="2751430"/>
            <a:ext cx="294437" cy="2944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3101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0664" y="370332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diff, parse hunks, rank changed symbols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587752" y="3108960"/>
            <a:ext cx="259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2846756" y="2286000"/>
            <a:ext cx="1993392" cy="2468880"/>
          </a:xfrm>
          <a:prstGeom prst="roundRect">
            <a:avLst>
              <a:gd name="adj" fmla="val 4587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46756" y="2286000"/>
            <a:ext cx="1993392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Shape 10"/>
          <p:cNvSpPr/>
          <p:nvPr/>
        </p:nvSpPr>
        <p:spPr>
          <a:xfrm>
            <a:off x="3523412" y="2578608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233" y="2751430"/>
            <a:ext cx="294437" cy="29443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46756" y="33101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993060" y="370332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+ Security review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40148" y="3108960"/>
            <a:ext cx="259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5099152" y="2286000"/>
            <a:ext cx="1993392" cy="2468880"/>
          </a:xfrm>
          <a:prstGeom prst="roundRect">
            <a:avLst>
              <a:gd name="adj" fmla="val 4587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99152" y="2286000"/>
            <a:ext cx="1993392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0" name="Shape 16"/>
          <p:cNvSpPr/>
          <p:nvPr/>
        </p:nvSpPr>
        <p:spPr>
          <a:xfrm>
            <a:off x="5775808" y="2578608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629" y="2751430"/>
            <a:ext cx="294437" cy="29443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99152" y="33101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1b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245456" y="370332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scan: AST, taint, secrets, schema, references, performance, privacy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7092544" y="3108960"/>
            <a:ext cx="259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Shape 20"/>
          <p:cNvSpPr/>
          <p:nvPr/>
        </p:nvSpPr>
        <p:spPr>
          <a:xfrm>
            <a:off x="7351547" y="2286000"/>
            <a:ext cx="1993392" cy="2468880"/>
          </a:xfrm>
          <a:prstGeom prst="roundRect">
            <a:avLst>
              <a:gd name="adj" fmla="val 4587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51547" y="2286000"/>
            <a:ext cx="1993392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Shape 22"/>
          <p:cNvSpPr/>
          <p:nvPr/>
        </p:nvSpPr>
        <p:spPr>
          <a:xfrm>
            <a:off x="8028203" y="2578608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025" y="2751430"/>
            <a:ext cx="294437" cy="29443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51547" y="33101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2–3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497851" y="370332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Dependency, tests, interface, risk, remediation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9344939" y="3108960"/>
            <a:ext cx="259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32" name="Shape 26"/>
          <p:cNvSpPr/>
          <p:nvPr/>
        </p:nvSpPr>
        <p:spPr>
          <a:xfrm>
            <a:off x="9603943" y="2286000"/>
            <a:ext cx="1993392" cy="2468880"/>
          </a:xfrm>
          <a:prstGeom prst="roundRect">
            <a:avLst>
              <a:gd name="adj" fmla="val 4587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603943" y="2286000"/>
            <a:ext cx="1993392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4" name="Shape 28"/>
          <p:cNvSpPr/>
          <p:nvPr/>
        </p:nvSpPr>
        <p:spPr>
          <a:xfrm>
            <a:off x="10280599" y="2578608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3421" y="2751430"/>
            <a:ext cx="294437" cy="294437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603943" y="33101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9750247" y="370332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APPROVE / HOLD / BLOCK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594360" y="544068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(temperature 0 — same diff, same verdict)     •     </a:t>
            </a:r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Evidence-guarded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(findings cite file:line in the diff)     •     </a:t>
            </a:r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(reviewer feedback suppresses repeat false positives)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PULL-REQUEST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Covered in Pull-Request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423818" cy="2121408"/>
          </a:xfrm>
          <a:prstGeom prst="roundRect">
            <a:avLst>
              <a:gd name="adj" fmla="val 387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E1A33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73152" cy="21214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" y="2020824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7" y="2168957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20824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review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50392" y="2715768"/>
            <a:ext cx="291175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10, taint / data-flow analysis, hardcoded secrets &amp; entropy, IaC misconfiguration.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3938" y="1783080"/>
            <a:ext cx="3423818" cy="2121408"/>
          </a:xfrm>
          <a:prstGeom prst="roundRect">
            <a:avLst>
              <a:gd name="adj" fmla="val 387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E1A33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3938" y="1783080"/>
            <a:ext cx="73152" cy="21214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Shape 9"/>
          <p:cNvSpPr/>
          <p:nvPr/>
        </p:nvSpPr>
        <p:spPr>
          <a:xfrm>
            <a:off x="4621682" y="2020824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815" y="2168957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98338" y="2020824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quality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39970" y="2715768"/>
            <a:ext cx="291175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analysis: dead code, null-dereference risk, type confusion, complexity &amp; maintainability.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73517" y="1783080"/>
            <a:ext cx="3423818" cy="2121408"/>
          </a:xfrm>
          <a:prstGeom prst="roundRect">
            <a:avLst>
              <a:gd name="adj" fmla="val 387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E1A33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73517" y="1783080"/>
            <a:ext cx="73152" cy="21214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Shape 14"/>
          <p:cNvSpPr/>
          <p:nvPr/>
        </p:nvSpPr>
        <p:spPr>
          <a:xfrm>
            <a:off x="8411261" y="2020824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394" y="2168957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87917" y="2020824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adequacy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429549" y="2715768"/>
            <a:ext cx="291175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Method-level scenario gaps, repo-aware (existing tests count), hollow-test detection.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94360" y="4270248"/>
            <a:ext cx="3423818" cy="2121408"/>
          </a:xfrm>
          <a:prstGeom prst="roundRect">
            <a:avLst>
              <a:gd name="adj" fmla="val 387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E1A33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94360" y="4270248"/>
            <a:ext cx="73152" cy="21214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Shape 19"/>
          <p:cNvSpPr/>
          <p:nvPr/>
        </p:nvSpPr>
        <p:spPr>
          <a:xfrm>
            <a:off x="832104" y="4507992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7" y="4656125"/>
            <a:ext cx="252374" cy="25237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08760" y="4507992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Dependencies &amp; SCA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850392" y="5202936"/>
            <a:ext cx="291175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OSV CVE lookup, Maven pom.xml direct-dependency scan, vulnerable-version flags.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383938" y="4270248"/>
            <a:ext cx="3423818" cy="2121408"/>
          </a:xfrm>
          <a:prstGeom prst="roundRect">
            <a:avLst>
              <a:gd name="adj" fmla="val 387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E1A33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83938" y="4270248"/>
            <a:ext cx="73152" cy="21214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0" name="Shape 24"/>
          <p:cNvSpPr/>
          <p:nvPr/>
        </p:nvSpPr>
        <p:spPr>
          <a:xfrm>
            <a:off x="4621682" y="4507992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9815" y="4656125"/>
            <a:ext cx="252374" cy="25237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98338" y="4507992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 schema safety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639970" y="5202936"/>
            <a:ext cx="291175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/ irreversible migration detection, rollback SQL, DBA sign-off prompts.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173517" y="4270248"/>
            <a:ext cx="3423818" cy="2121408"/>
          </a:xfrm>
          <a:prstGeom prst="roundRect">
            <a:avLst>
              <a:gd name="adj" fmla="val 387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E1A33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173517" y="4270248"/>
            <a:ext cx="73152" cy="21214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6" name="Shape 29"/>
          <p:cNvSpPr/>
          <p:nvPr/>
        </p:nvSpPr>
        <p:spPr>
          <a:xfrm>
            <a:off x="8411261" y="4507992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394" y="4656125"/>
            <a:ext cx="252374" cy="25237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087917" y="4507992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mapping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8429549" y="5202936"/>
            <a:ext cx="291175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mapped to OWASP, PCI-DSS 4.0 and CWE Top 25 — with code evidence.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Covered in Impact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423818" cy="2121408"/>
          </a:xfrm>
          <a:prstGeom prst="roundRect">
            <a:avLst>
              <a:gd name="adj" fmla="val 387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E1A33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73152" cy="21214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" y="2020824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7" y="2168957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20824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Blast radius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50392" y="2715768"/>
            <a:ext cx="291175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(NetworkX / Neo4j) or derived from real signals — scored 0–100 with a breakdown.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3938" y="1783080"/>
            <a:ext cx="3423818" cy="2121408"/>
          </a:xfrm>
          <a:prstGeom prst="roundRect">
            <a:avLst>
              <a:gd name="adj" fmla="val 387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E1A33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3938" y="1783080"/>
            <a:ext cx="73152" cy="21214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Shape 9"/>
          <p:cNvSpPr/>
          <p:nvPr/>
        </p:nvSpPr>
        <p:spPr>
          <a:xfrm>
            <a:off x="4621682" y="2020824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815" y="2168957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98338" y="2020824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Cross-repo references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39970" y="2715768"/>
            <a:ext cx="291175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call-sites in dependent repos: warm mirror → provider code search → shallow clone + grep.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73517" y="1783080"/>
            <a:ext cx="3423818" cy="2121408"/>
          </a:xfrm>
          <a:prstGeom prst="roundRect">
            <a:avLst>
              <a:gd name="adj" fmla="val 387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E1A33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73517" y="1783080"/>
            <a:ext cx="73152" cy="21214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Shape 14"/>
          <p:cNvSpPr/>
          <p:nvPr/>
        </p:nvSpPr>
        <p:spPr>
          <a:xfrm>
            <a:off x="8411261" y="2020824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394" y="2168957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87917" y="2020824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Downstream consumers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429549" y="2715768"/>
            <a:ext cx="291175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call-sites a breaking change will break, each with its likely runtime failure mode.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94360" y="4270248"/>
            <a:ext cx="3423818" cy="2121408"/>
          </a:xfrm>
          <a:prstGeom prst="roundRect">
            <a:avLst>
              <a:gd name="adj" fmla="val 387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E1A33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94360" y="4270248"/>
            <a:ext cx="73152" cy="21214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4" name="Shape 19"/>
          <p:cNvSpPr/>
          <p:nvPr/>
        </p:nvSpPr>
        <p:spPr>
          <a:xfrm>
            <a:off x="832104" y="4507992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7" y="4656125"/>
            <a:ext cx="252374" cy="25237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08760" y="4507992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&amp; contracts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850392" y="5202936"/>
            <a:ext cx="291175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changes (removed / renamed / retyped) + additive data-model fields + serialization config.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383938" y="4270248"/>
            <a:ext cx="3423818" cy="2121408"/>
          </a:xfrm>
          <a:prstGeom prst="roundRect">
            <a:avLst>
              <a:gd name="adj" fmla="val 387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E1A33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83938" y="4270248"/>
            <a:ext cx="73152" cy="21214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Shape 24"/>
          <p:cNvSpPr/>
          <p:nvPr/>
        </p:nvSpPr>
        <p:spPr>
          <a:xfrm>
            <a:off x="4621682" y="4507992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9815" y="4656125"/>
            <a:ext cx="252374" cy="25237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98338" y="4507992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/ reference graph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639970" y="5202936"/>
            <a:ext cx="291175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and force views, folder grouping and focus-on-hover to read large graphs clearly.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173517" y="4270248"/>
            <a:ext cx="3423818" cy="2121408"/>
          </a:xfrm>
          <a:prstGeom prst="roundRect">
            <a:avLst>
              <a:gd name="adj" fmla="val 387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E1A33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173517" y="4270248"/>
            <a:ext cx="73152" cy="21214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Shape 29"/>
          <p:cNvSpPr/>
          <p:nvPr/>
        </p:nvSpPr>
        <p:spPr>
          <a:xfrm>
            <a:off x="8411261" y="4507992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394" y="4656125"/>
            <a:ext cx="252374" cy="25237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087917" y="4507992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mapping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8429549" y="5202936"/>
            <a:ext cx="291175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changed files to the owning business capabilities and teams to loop into the review.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&amp; TERMINOLOGY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analysis techniques, in plain English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318608" cy="1024128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72768"/>
            <a:ext cx="64008" cy="10241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" y="1856232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79676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9032" y="1700784"/>
            <a:ext cx="435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 Analysis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99032" y="2002536"/>
            <a:ext cx="431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Abstract Syntax Tree to flag dead code, null-dereference risk, type confusion and complexity — without running the code.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6278728" y="1572768"/>
            <a:ext cx="5318608" cy="1024128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78728" y="1572768"/>
            <a:ext cx="64008" cy="10241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Shape 9"/>
          <p:cNvSpPr/>
          <p:nvPr/>
        </p:nvSpPr>
        <p:spPr>
          <a:xfrm>
            <a:off x="6498184" y="185623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628" y="1979676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3400" y="1700784"/>
            <a:ext cx="435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IaC Scanning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083400" y="2002536"/>
            <a:ext cx="431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infrastructure-as-code (Terraform, Kubernetes, Docker) for security misconfigurations before deploy.</a:t>
            </a:r>
            <a:endParaRPr lang="en-US" sz="1030" dirty="0"/>
          </a:p>
        </p:txBody>
      </p:sp>
      <p:sp>
        <p:nvSpPr>
          <p:cNvPr id="16" name="Shape 12"/>
          <p:cNvSpPr/>
          <p:nvPr/>
        </p:nvSpPr>
        <p:spPr>
          <a:xfrm>
            <a:off x="594360" y="2724912"/>
            <a:ext cx="5318608" cy="1024128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4360" y="2724912"/>
            <a:ext cx="64008" cy="10241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Shape 14"/>
          <p:cNvSpPr/>
          <p:nvPr/>
        </p:nvSpPr>
        <p:spPr>
          <a:xfrm>
            <a:off x="813816" y="3008376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131820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99032" y="2852928"/>
            <a:ext cx="435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Entropy / Secrets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399032" y="3154680"/>
            <a:ext cx="431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Shannon-entropy scoring plus known key prefixes to catch hardcoded credentials, API keys and tokens.</a:t>
            </a:r>
            <a:endParaRPr lang="en-US" sz="1030" dirty="0"/>
          </a:p>
        </p:txBody>
      </p:sp>
      <p:sp>
        <p:nvSpPr>
          <p:cNvPr id="22" name="Shape 17"/>
          <p:cNvSpPr/>
          <p:nvPr/>
        </p:nvSpPr>
        <p:spPr>
          <a:xfrm>
            <a:off x="6278728" y="2724912"/>
            <a:ext cx="5318608" cy="1024128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78728" y="2724912"/>
            <a:ext cx="64008" cy="10241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Shape 19"/>
          <p:cNvSpPr/>
          <p:nvPr/>
        </p:nvSpPr>
        <p:spPr>
          <a:xfrm>
            <a:off x="6498184" y="3008376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628" y="3131820"/>
            <a:ext cx="210312" cy="2103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83400" y="2852928"/>
            <a:ext cx="435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 — Composition Analysis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083400" y="3154680"/>
            <a:ext cx="431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third-party dependencies against the OSV database for known CVEs (vulnerable versions).</a:t>
            </a:r>
            <a:endParaRPr lang="en-US" sz="1030" dirty="0"/>
          </a:p>
        </p:txBody>
      </p:sp>
      <p:sp>
        <p:nvSpPr>
          <p:cNvPr id="28" name="Shape 22"/>
          <p:cNvSpPr/>
          <p:nvPr/>
        </p:nvSpPr>
        <p:spPr>
          <a:xfrm>
            <a:off x="594360" y="3877056"/>
            <a:ext cx="5318608" cy="1024128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94360" y="3877056"/>
            <a:ext cx="64008" cy="10241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0" name="Shape 24"/>
          <p:cNvSpPr/>
          <p:nvPr/>
        </p:nvSpPr>
        <p:spPr>
          <a:xfrm>
            <a:off x="813816" y="416052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283964"/>
            <a:ext cx="210312" cy="2103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99032" y="4005072"/>
            <a:ext cx="435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Taint Analysis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1399032" y="4306824"/>
            <a:ext cx="431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untrusted input (source) to a dangerous operation (sink) to expose injection &amp; data-flow flaws (CWE).</a:t>
            </a:r>
            <a:endParaRPr lang="en-US" sz="1030" dirty="0"/>
          </a:p>
        </p:txBody>
      </p:sp>
      <p:sp>
        <p:nvSpPr>
          <p:cNvPr id="34" name="Shape 27"/>
          <p:cNvSpPr/>
          <p:nvPr/>
        </p:nvSpPr>
        <p:spPr>
          <a:xfrm>
            <a:off x="6278728" y="3877056"/>
            <a:ext cx="5318608" cy="1024128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278728" y="3877056"/>
            <a:ext cx="64008" cy="10241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6" name="Shape 29"/>
          <p:cNvSpPr/>
          <p:nvPr/>
        </p:nvSpPr>
        <p:spPr>
          <a:xfrm>
            <a:off x="6498184" y="416052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1628" y="4283964"/>
            <a:ext cx="210312" cy="21031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083400" y="4005072"/>
            <a:ext cx="435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Blast Radius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7083400" y="4306824"/>
            <a:ext cx="431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that scores how far a change ripples across files and services, from 0 to 100.</a:t>
            </a:r>
            <a:endParaRPr lang="en-US" sz="1030" dirty="0"/>
          </a:p>
        </p:txBody>
      </p:sp>
      <p:sp>
        <p:nvSpPr>
          <p:cNvPr id="40" name="Shape 32"/>
          <p:cNvSpPr/>
          <p:nvPr/>
        </p:nvSpPr>
        <p:spPr>
          <a:xfrm>
            <a:off x="594360" y="5029200"/>
            <a:ext cx="5318608" cy="1024128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594360" y="5029200"/>
            <a:ext cx="64008" cy="10241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Shape 34"/>
          <p:cNvSpPr/>
          <p:nvPr/>
        </p:nvSpPr>
        <p:spPr>
          <a:xfrm>
            <a:off x="813816" y="531266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436108"/>
            <a:ext cx="210312" cy="210312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399032" y="5157216"/>
            <a:ext cx="435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Risk</a:t>
            </a:r>
            <a:endParaRPr lang="en-US" sz="1350" dirty="0"/>
          </a:p>
        </p:txBody>
      </p:sp>
      <p:sp>
        <p:nvSpPr>
          <p:cNvPr id="45" name="Text 36"/>
          <p:cNvSpPr/>
          <p:nvPr/>
        </p:nvSpPr>
        <p:spPr>
          <a:xfrm>
            <a:off x="1399032" y="5458968"/>
            <a:ext cx="431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 change history for hot files, escalating churn and security erosion over time.</a:t>
            </a:r>
            <a:endParaRPr lang="en-US" sz="1030" dirty="0"/>
          </a:p>
        </p:txBody>
      </p:sp>
      <p:sp>
        <p:nvSpPr>
          <p:cNvPr id="46" name="Shape 37"/>
          <p:cNvSpPr/>
          <p:nvPr/>
        </p:nvSpPr>
        <p:spPr>
          <a:xfrm>
            <a:off x="6278728" y="5029200"/>
            <a:ext cx="5318608" cy="1024128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6278728" y="5029200"/>
            <a:ext cx="64008" cy="10241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8" name="Shape 39"/>
          <p:cNvSpPr/>
          <p:nvPr/>
        </p:nvSpPr>
        <p:spPr>
          <a:xfrm>
            <a:off x="6498184" y="5312664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1628" y="5436108"/>
            <a:ext cx="210312" cy="210312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7083400" y="5157216"/>
            <a:ext cx="435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LLM-as-Judge</a:t>
            </a:r>
            <a:endParaRPr lang="en-US" sz="1350" dirty="0"/>
          </a:p>
        </p:txBody>
      </p:sp>
      <p:sp>
        <p:nvSpPr>
          <p:cNvPr id="51" name="Text 41"/>
          <p:cNvSpPr/>
          <p:nvPr/>
        </p:nvSpPr>
        <p:spPr>
          <a:xfrm>
            <a:off x="7083400" y="5458968"/>
            <a:ext cx="431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AI judges grade every agent's output for completeness, precision and specificity.</a:t>
            </a:r>
            <a:endParaRPr lang="en-US" sz="1030" dirty="0"/>
          </a:p>
        </p:txBody>
      </p:sp>
      <p:sp>
        <p:nvSpPr>
          <p:cNvPr id="52" name="Text 42"/>
          <p:cNvSpPr/>
          <p:nvPr/>
        </p:nvSpPr>
        <p:spPr>
          <a:xfrm>
            <a:off x="594360" y="635508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</a:t>
            </a:r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Reference-impact</a:t>
            </a:r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(cross-repo call-site tracing)  ·  </a:t>
            </a:r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context</a:t>
            </a:r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(embeddings ground each agent)  ·  </a:t>
            </a:r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temp-0</a:t>
            </a:r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inference  ·  </a:t>
            </a:r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</a:t>
            </a:r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(auto-isolate a failing agent)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Taint Analysis — source → sink data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analysis tracks data from where it enters the system to where it is used, following it through assignments and method calls.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DETECTS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5394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command / LDAP injection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scripting (XSS)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 &amp; SSRF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unsanitised value reaching a sensitive sink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51389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5413248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high-severity breaches are a tainted value reaching a dangerous sink. CIAA shows the exact source → sink path with its CWE.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5196535" cy="4434840"/>
          </a:xfrm>
          <a:prstGeom prst="roundRect">
            <a:avLst>
              <a:gd name="adj" fmla="val 185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2148840"/>
            <a:ext cx="4190695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68312" y="2258568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SOURCE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68312" y="2514600"/>
            <a:ext cx="38615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request.getParameter("id")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68312" y="2798064"/>
            <a:ext cx="38615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user input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24748" y="31821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03720" y="3474720"/>
            <a:ext cx="4190695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68312" y="3584448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PROPAGATION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68312" y="3840480"/>
            <a:ext cx="38615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q = "...WHERE id=" + id;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68312" y="4123944"/>
            <a:ext cx="38615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flows into the query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24748" y="4507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03720" y="4800600"/>
            <a:ext cx="4190695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8312" y="4910328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SINK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68312" y="5166360"/>
            <a:ext cx="38615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stmt.execute(q)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68312" y="5449824"/>
            <a:ext cx="38615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CWE-89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 Analysis — understanding code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parser turns source into an Abstract Syntax Tree — a structured view of branches, calls and scopes that CIAA walks without executing the code.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DETECTS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5394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Unreachable / dead code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Null-dereference &amp; none-type risk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confusion / unsafe casts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&amp; deep-nesting hot-spots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51389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5413248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latent bugs a regex linter can't see, because it reasons over structure — not just text.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5196535" cy="4434840"/>
          </a:xfrm>
          <a:prstGeom prst="roundRect">
            <a:avLst>
              <a:gd name="adj" fmla="val 185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2057400"/>
            <a:ext cx="4465015" cy="1280160"/>
          </a:xfrm>
          <a:prstGeom prst="roundRect">
            <a:avLst>
              <a:gd name="adj" fmla="val 5000"/>
            </a:avLst>
          </a:prstGeom>
          <a:solidFill>
            <a:srgbClr val="0E1A33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2157984"/>
            <a:ext cx="4190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risk(int x) {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(x &gt; 0) return x;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log(x);  // unreachable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3429000"/>
            <a:ext cx="5196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into an AST 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0388" y="3794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8130388" y="3794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risk()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99068" y="4251960"/>
            <a:ext cx="-1691640" cy="411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75908" y="466344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5908" y="4663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(x&gt;0)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99068" y="4251960"/>
            <a:ext cx="0" cy="411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7548" y="466344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7548" y="4663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99068" y="4251960"/>
            <a:ext cx="1691640" cy="411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59188" y="466344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59188" y="4663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log(x) ⚠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Entropy &amp; Secrets — spotting hardcoded keys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measures how random a string is. Real secrets (keys, tokens) look random — high entropy — while normal text and config do not.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DETECTS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5394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API keys &amp; tokens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&amp; connection strings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keys / certificates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prefixes: AKIA, ghp_, sk-…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51389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5413248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committed credential can compromise a whole system. Entropy + prefix rules catch them before they reach repo history.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5196535" cy="4434840"/>
          </a:xfrm>
          <a:prstGeom prst="roundRect">
            <a:avLst>
              <a:gd name="adj" fmla="val 185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103120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SCORE (0–8 bits)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4465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apiKey = "AKIAJ4F2K7Q7VZ8XN1"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66560" y="2971800"/>
            <a:ext cx="3367735" cy="23774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6560" y="2971800"/>
            <a:ext cx="2896252" cy="23774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4023" y="29169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⚠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66560" y="3794760"/>
            <a:ext cx="4465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 = "hello world"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66560" y="4160520"/>
            <a:ext cx="3367735" cy="23774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766560" y="4160520"/>
            <a:ext cx="1145030" cy="23774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4023" y="41056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✓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66560" y="4983480"/>
            <a:ext cx="4465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= "ghp_xT9...";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66560" y="5349240"/>
            <a:ext cx="3367735" cy="23774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6766560" y="5349240"/>
            <a:ext cx="3030962" cy="23774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4023" y="52943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⚠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Risk — learning from change history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risk looks beyond this PR at a file's history — how often it changes, whether changes are getting riskier, and security regressions over time.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DETECTS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5394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hot-spots (frequently changed files)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change patterns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erosion across commits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with repeated past incidents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51389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5413248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that change constantly and trend riskier are where defects cluster — history tells you where to look first.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5196535" cy="4434840"/>
          </a:xfrm>
          <a:prstGeom prst="roundRect">
            <a:avLst>
              <a:gd name="adj" fmla="val 185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103120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FREQUENCY  ·  RISK TREND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66560" y="2606040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PaymentService.java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2907792"/>
            <a:ext cx="3093415" cy="237744"/>
          </a:xfrm>
          <a:prstGeom prst="roundRect">
            <a:avLst>
              <a:gd name="adj" fmla="val 19231"/>
            </a:avLst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6560" y="2907792"/>
            <a:ext cx="2938744" cy="237744"/>
          </a:xfrm>
          <a:prstGeom prst="roundRect">
            <a:avLst>
              <a:gd name="adj" fmla="val 19231"/>
            </a:avLst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9969703" y="28529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9815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degrading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66560" y="3566160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AccountDao.java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3867912"/>
            <a:ext cx="3093415" cy="237744"/>
          </a:xfrm>
          <a:prstGeom prst="roundRect">
            <a:avLst>
              <a:gd name="adj" fmla="val 19231"/>
            </a:avLst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6766560" y="3867912"/>
            <a:ext cx="1917917" cy="237744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9969703" y="38130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79815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stable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66560" y="4526280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JsonWrapperUtils.java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4828032"/>
            <a:ext cx="3093415" cy="237744"/>
          </a:xfrm>
          <a:prstGeom prst="roundRect">
            <a:avLst>
              <a:gd name="adj" fmla="val 19231"/>
            </a:avLst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6766560" y="4828032"/>
            <a:ext cx="928025" cy="237744"/>
          </a:xfrm>
          <a:prstGeom prst="roundRect">
            <a:avLst>
              <a:gd name="adj" fmla="val 19231"/>
            </a:avLst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9969703" y="47731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79815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improving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Blast Radius — how far a change ripples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CIAA walks the service-dependency graph (NetworkX / Neo4j) — or derives it from real signals — to find everything that transitively depends on what you changed.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DETECTS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5394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&amp; transitively affected services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Shared-library edits with wide fan-out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changes that amplify reach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0–100 reach score with a breakdown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51389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5413248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reviewers and release managers how risky a merge is, and which teams to involve — before it ships.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5196535" cy="4434840"/>
          </a:xfrm>
          <a:prstGeom prst="roundRect">
            <a:avLst>
              <a:gd name="adj" fmla="val 185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8412480" y="3035808"/>
            <a:ext cx="1234440" cy="121615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8412480" y="3858768"/>
            <a:ext cx="1234440" cy="39319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4251960"/>
            <a:ext cx="1234440" cy="429768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4251960"/>
            <a:ext cx="1234440" cy="1115568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814255" y="1993392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9814255" y="199339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/ 100 · HIGH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3977640"/>
            <a:ext cx="1600200" cy="566928"/>
          </a:xfrm>
          <a:prstGeom prst="roundRect">
            <a:avLst>
              <a:gd name="adj" fmla="val 11290"/>
            </a:avLst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40325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shared-domain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12280" y="428853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646920" y="2788920"/>
            <a:ext cx="16916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278892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payments-svc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46920" y="3611880"/>
            <a:ext cx="16916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7780">
            <a:solidFill>
              <a:srgbClr val="2DD4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46920" y="361188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accounts-svc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46920" y="4434840"/>
            <a:ext cx="16916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46920" y="443484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ledger-svc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46920" y="5120640"/>
            <a:ext cx="16916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7780">
            <a:solidFill>
              <a:srgbClr val="2DD4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512064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billing-svc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5806440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transitively depends on the changed library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 — finding known CVEs in dependencies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Composition Analysis inventories your third-party dependencies and checks each version against the OSV vulnerability database for known CVEs.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DETECTS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5394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CVEs in declared dependencies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version ranges (OSV.dev)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+ fixed-version guidance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pom.xml &amp; other manifests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51389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5413248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your code is dependencies you didn't write — SCA catches a known-exploited library before it reaches production.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5196535" cy="4434840"/>
          </a:xfrm>
          <a:prstGeom prst="roundRect">
            <a:avLst>
              <a:gd name="adj" fmla="val 185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2057400"/>
            <a:ext cx="4465015" cy="868680"/>
          </a:xfrm>
          <a:prstGeom prst="roundRect">
            <a:avLst>
              <a:gd name="adj" fmla="val 7368"/>
            </a:avLst>
          </a:prstGeom>
          <a:solidFill>
            <a:srgbClr val="0E1A33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2157984"/>
            <a:ext cx="4190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pom.xml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log4j-core · jackson-databind · commons-text 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0" y="2999232"/>
            <a:ext cx="5196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scanned against OSV.dev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3383280"/>
            <a:ext cx="4465015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3383280"/>
            <a:ext cx="64008" cy="6949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967728" y="347472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log4j-core @ 2.14.1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67728" y="3767328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CVE-2021-44228 (Log4Shell)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271455" y="358444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10271455" y="35844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4224528"/>
            <a:ext cx="4465015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4224528"/>
            <a:ext cx="64008" cy="6949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967728" y="4315968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jackson-databind @ 2.9.8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67728" y="4608576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CVE-2020-36518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271455" y="442569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10271455" y="442569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66560" y="5065776"/>
            <a:ext cx="4465015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5065776"/>
            <a:ext cx="64008" cy="6949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6967728" y="5157216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commons-text @ 1.9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67728" y="5449824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CVE-2022-42889 (Text4Shell)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271455" y="5266944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10271455" y="52669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deterministic, auditable merge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393338" cy="3383280"/>
          </a:xfrm>
          <a:prstGeom prst="roundRect">
            <a:avLst>
              <a:gd name="adj" fmla="val 2703"/>
            </a:avLst>
          </a:prstGeom>
          <a:solidFill>
            <a:srgbClr val="F6F8FB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3393338" cy="868680"/>
          </a:xfrm>
          <a:prstGeom prst="roundRect">
            <a:avLst>
              <a:gd name="adj" fmla="val 10526"/>
            </a:avLst>
          </a:prstGeom>
          <a:solidFill>
            <a:srgbClr val="16A34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331720"/>
            <a:ext cx="3393338" cy="32004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47672"/>
            <a:ext cx="2478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can proceed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05256" y="3154680"/>
            <a:ext cx="282641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blocking security/CVE findings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cover new critical paths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breaking contract changes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99178" y="1783080"/>
            <a:ext cx="3393338" cy="3383280"/>
          </a:xfrm>
          <a:prstGeom prst="roundRect">
            <a:avLst>
              <a:gd name="adj" fmla="val 2703"/>
            </a:avLst>
          </a:prstGeom>
          <a:solidFill>
            <a:srgbClr val="F6F8F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99178" y="1783080"/>
            <a:ext cx="3393338" cy="868680"/>
          </a:xfrm>
          <a:prstGeom prst="roundRect">
            <a:avLst>
              <a:gd name="adj" fmla="val 10526"/>
            </a:avLst>
          </a:prstGeom>
          <a:solidFill>
            <a:srgbClr val="D97706"/>
          </a:solidFill>
          <a:ln/>
        </p:spPr>
      </p:sp>
      <p:sp>
        <p:nvSpPr>
          <p:cNvPr id="13" name="Shape 10"/>
          <p:cNvSpPr/>
          <p:nvPr/>
        </p:nvSpPr>
        <p:spPr>
          <a:xfrm>
            <a:off x="4399178" y="2331720"/>
            <a:ext cx="3393338" cy="32004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218" y="201168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22138" y="1947672"/>
            <a:ext cx="2478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4673498" y="274320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required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710074" y="3154680"/>
            <a:ext cx="282641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dropped on changed code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Medium-severity findings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untested security-sensitive method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03997" y="1783080"/>
            <a:ext cx="3393338" cy="3383280"/>
          </a:xfrm>
          <a:prstGeom prst="roundRect">
            <a:avLst>
              <a:gd name="adj" fmla="val 2703"/>
            </a:avLst>
          </a:prstGeom>
          <a:solidFill>
            <a:srgbClr val="F6F8FB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03997" y="1783080"/>
            <a:ext cx="3393338" cy="868680"/>
          </a:xfrm>
          <a:prstGeom prst="roundRect">
            <a:avLst>
              <a:gd name="adj" fmla="val 10526"/>
            </a:avLst>
          </a:prstGeom>
          <a:solidFill>
            <a:srgbClr val="DC2626"/>
          </a:solidFill>
          <a:ln/>
        </p:spPr>
      </p:sp>
      <p:sp>
        <p:nvSpPr>
          <p:cNvPr id="20" name="Shape 16"/>
          <p:cNvSpPr/>
          <p:nvPr/>
        </p:nvSpPr>
        <p:spPr>
          <a:xfrm>
            <a:off x="8203997" y="2331720"/>
            <a:ext cx="3393338" cy="32004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01168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26957" y="1947672"/>
            <a:ext cx="2478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8478317" y="274320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fix before merge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514893" y="3154680"/>
            <a:ext cx="282641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 / critical CVE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destructive migration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public API with consumers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94360" y="553212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Most-restrictive-wins policy</a:t>
            </a:r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every decision logged with a request ID  ·  RBAC override  ·  mark findings </a:t>
            </a:r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/ false-positive</a:t>
            </a:r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train the gate over time.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SonarQube &amp; Veracode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11002975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Capability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Traditional SAST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CIAA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Code-pattern &amp; security findings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Diff-native — understands the actual 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Cross-repo blast radius &amp; downstream consumers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&amp; serialization impact (DTO / JSON)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adequacy for the changed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merge gate with 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 feedback loop (learns false positives)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/ self-hosted LLM (Bitbucket Server)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full   </a:t>
            </a:r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partial   </a:t>
            </a:r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covered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Production-ready, on-premises, and trustworthy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510714" cy="1371600"/>
          </a:xfrm>
          <a:prstGeom prst="roundRect">
            <a:avLst>
              <a:gd name="adj" fmla="val 6667"/>
            </a:avLst>
          </a:prstGeom>
          <a:solidFill>
            <a:srgbClr val="16243F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83080"/>
            <a:ext cx="25107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487168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5114" y="1691640"/>
            <a:ext cx="2510714" cy="1371600"/>
          </a:xfrm>
          <a:prstGeom prst="roundRect">
            <a:avLst>
              <a:gd name="adj" fmla="val 6667"/>
            </a:avLst>
          </a:prstGeom>
          <a:solidFill>
            <a:srgbClr val="16243F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5114" y="1783080"/>
            <a:ext cx="25107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16554" y="2487168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55868" y="1691640"/>
            <a:ext cx="2510714" cy="1371600"/>
          </a:xfrm>
          <a:prstGeom prst="roundRect">
            <a:avLst>
              <a:gd name="adj" fmla="val 6667"/>
            </a:avLst>
          </a:prstGeom>
          <a:solidFill>
            <a:srgbClr val="16243F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5868" y="1783080"/>
            <a:ext cx="25107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47308" y="2487168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— deterministic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86621" y="1691640"/>
            <a:ext cx="2510714" cy="1371600"/>
          </a:xfrm>
          <a:prstGeom prst="roundRect">
            <a:avLst>
              <a:gd name="adj" fmla="val 6667"/>
            </a:avLst>
          </a:prstGeom>
          <a:solidFill>
            <a:srgbClr val="16243F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86621" y="1783080"/>
            <a:ext cx="25107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78061" y="2487168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 supported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429000"/>
            <a:ext cx="548640" cy="548640"/>
          </a:xfrm>
          <a:prstGeom prst="ellipse">
            <a:avLst/>
          </a:prstGeom>
          <a:solidFill>
            <a:srgbClr val="1E2C4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3577133"/>
            <a:ext cx="252374" cy="25237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25880" y="3392424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&amp; audit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25880" y="3758184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A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API keys, structured audit log, HMAC-verified webhooks.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78728" y="3429000"/>
            <a:ext cx="548640" cy="548640"/>
          </a:xfrm>
          <a:prstGeom prst="ellipse">
            <a:avLst/>
          </a:prstGeom>
          <a:solidFill>
            <a:srgbClr val="1E2C4A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860" y="3577133"/>
            <a:ext cx="252374" cy="25237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10248" y="3392424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Resilience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010248" y="3758184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A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control, LLM concurrency limiter, circuit breakers, sanitized errors.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94360" y="4754880"/>
            <a:ext cx="548640" cy="548640"/>
          </a:xfrm>
          <a:prstGeom prst="ellipse">
            <a:avLst/>
          </a:prstGeom>
          <a:solidFill>
            <a:srgbClr val="1E2C4A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3" y="4903013"/>
            <a:ext cx="252374" cy="25237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25880" y="4718304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1325880" y="5084064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A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/ readiness probes, rate limiting, Prometheus metrics, Docker.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278728" y="4754880"/>
            <a:ext cx="548640" cy="548640"/>
          </a:xfrm>
          <a:prstGeom prst="ellipse">
            <a:avLst/>
          </a:prstGeom>
          <a:solidFill>
            <a:srgbClr val="1E2C4A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860" y="4903013"/>
            <a:ext cx="252374" cy="25237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10248" y="4718304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assurance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7010248" y="5084064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A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LLM-as-judge panel scores every agent's output for completeness &amp; precision.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 — and what each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72768"/>
            <a:ext cx="64008" cy="1554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1773936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897380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73936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&amp; API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32104" y="228600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 · FastAPI 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async REST API &amp; analysis pipeline</a:t>
            </a:r>
            <a:endParaRPr lang="en-US" sz="1050" dirty="0"/>
          </a:p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+ settings 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typed models &amp; env-driven config</a:t>
            </a:r>
            <a:endParaRPr lang="en-US" sz="1050" dirty="0"/>
          </a:p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/ Gunicorn 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production ASGI app server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78728" y="1572768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78728" y="1572768"/>
            <a:ext cx="64008" cy="15544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Shape 9"/>
          <p:cNvSpPr/>
          <p:nvPr/>
        </p:nvSpPr>
        <p:spPr>
          <a:xfrm>
            <a:off x="6479896" y="1773936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1897380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55968" y="1773936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orchestration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516472" y="228600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OpenAI · Azure · Ollama 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pluggable LLMs via one client</a:t>
            </a:r>
            <a:endParaRPr lang="en-US" sz="1050" dirty="0"/>
          </a:p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agent prompts @ temp 0 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deterministic security &amp; impact analysis</a:t>
            </a:r>
            <a:endParaRPr lang="en-US" sz="1050" dirty="0"/>
          </a:p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(optional) 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graph-based agent pipeline + tracing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4360" y="329184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4360" y="3291840"/>
            <a:ext cx="64008" cy="1554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4"/>
          <p:cNvSpPr/>
          <p:nvPr/>
        </p:nvSpPr>
        <p:spPr>
          <a:xfrm>
            <a:off x="795528" y="3493008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616452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493008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dependency graph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32104" y="4005072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in-process blast-radius &amp; reference graph</a:t>
            </a:r>
            <a:endParaRPr lang="en-US" sz="1050" dirty="0"/>
          </a:p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(optional) 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persistent, org-wide service graph</a:t>
            </a:r>
            <a:endParaRPr lang="en-US" sz="1050" dirty="0"/>
          </a:p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+ ripgrep 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cross-repo call-site tracing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278728" y="3291840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78728" y="3291840"/>
            <a:ext cx="64008" cy="1554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Shape 19"/>
          <p:cNvSpPr/>
          <p:nvPr/>
        </p:nvSpPr>
        <p:spPr>
          <a:xfrm>
            <a:off x="6479896" y="3493008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3616452"/>
            <a:ext cx="210312" cy="2103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55968" y="3493008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SCA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516472" y="4005072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OSV.dev API 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known-CVE lookup for dependencies</a:t>
            </a:r>
            <a:endParaRPr lang="en-US" sz="1050" dirty="0"/>
          </a:p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· taint · entropy scanners 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code, injection &amp; secret detection</a:t>
            </a:r>
            <a:endParaRPr lang="en-US" sz="1050" dirty="0"/>
          </a:p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pom.xml parser 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direct-dependency vulnerability scan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94360" y="5010912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94360" y="5010912"/>
            <a:ext cx="64008" cy="1554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0" name="Shape 24"/>
          <p:cNvSpPr/>
          <p:nvPr/>
        </p:nvSpPr>
        <p:spPr>
          <a:xfrm>
            <a:off x="795528" y="521208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5335524"/>
            <a:ext cx="210312" cy="2103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71600" y="521208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&amp; visualization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832104" y="5724144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reviewer dashboard &amp; persona views</a:t>
            </a:r>
            <a:endParaRPr lang="en-US" sz="1050" dirty="0"/>
          </a:p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layered / force call-graph rendering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278728" y="5010912"/>
            <a:ext cx="5318608" cy="1554480"/>
          </a:xfrm>
          <a:prstGeom prst="roundRect">
            <a:avLst>
              <a:gd name="adj" fmla="val 470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278728" y="5010912"/>
            <a:ext cx="64008" cy="1554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Shape 29"/>
          <p:cNvSpPr/>
          <p:nvPr/>
        </p:nvSpPr>
        <p:spPr>
          <a:xfrm>
            <a:off x="6479896" y="521208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340" y="5335524"/>
            <a:ext cx="210312" cy="21031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055968" y="521208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Data, reliability &amp; ops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6516472" y="5724144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Redis · ChromaDB 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report store · cache · semantic search</a:t>
            </a:r>
            <a:endParaRPr lang="en-US" sz="1050" dirty="0"/>
          </a:p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tenacity · OpenTelemetry · Prometheus 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retries · tracing · metrics</a:t>
            </a:r>
            <a:endParaRPr lang="en-US" sz="1050" dirty="0"/>
          </a:p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OpenShift · pytest  </a:t>
            </a:r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containers · deploy · 519 tests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5740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 production issues before they merge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3246120"/>
            <a:ext cx="9448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CIAA turns every Pull Request into a deep, consistent, evidence-backed review —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real impact analysis with a deterministic merge gate, at PR scale.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64512" y="4526280"/>
            <a:ext cx="1865376" cy="457200"/>
          </a:xfrm>
          <a:prstGeom prst="roundRect">
            <a:avLst>
              <a:gd name="adj" fmla="val 50000"/>
            </a:avLst>
          </a:prstGeom>
          <a:solidFill>
            <a:srgbClr val="16243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64512" y="45262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PR Review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8488" y="45262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6243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58488" y="4526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Impact Analysis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55968" y="452628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16243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55968" y="452628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Governance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CIAA — Code Impact &amp; Analysis Agent</dc:title>
  <dc:subject>PptxGenJS Presentation</dc:subject>
  <dc:creator>CIAA</dc:creator>
  <cp:lastModifiedBy>CIAA</cp:lastModifiedBy>
  <cp:revision>1</cp:revision>
  <dcterms:created xsi:type="dcterms:W3CDTF">2026-06-10T14:41:37Z</dcterms:created>
  <dcterms:modified xsi:type="dcterms:W3CDTF">2026-06-10T14:41:37Z</dcterms:modified>
</cp:coreProperties>
</file>